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5" r:id="rId27"/>
    <p:sldId id="273" r:id="rId25"/>
    <p:sldId id="274" r:id="rId2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502919" y="1097279"/>
            <a:ext cx="45721" cy="4663442"/>
          </a:xfrm>
          <a:prstGeom prst="rect">
            <a:avLst/>
          </a:prstGeom>
          <a:solidFill>
            <a:srgbClr val="2EC4B6">
              <a:alpha val="8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667512" y="1097279"/>
            <a:ext cx="45721" cy="4663442"/>
          </a:xfrm>
          <a:prstGeom prst="rect">
            <a:avLst/>
          </a:prstGeom>
          <a:solidFill>
            <a:srgbClr val="2EC4B6">
              <a:alpha val="64999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Shape 2"/>
          <p:cNvSpPr/>
          <p:nvPr/>
        </p:nvSpPr>
        <p:spPr>
          <a:xfrm>
            <a:off x="832103" y="1097279"/>
            <a:ext cx="45721" cy="4663442"/>
          </a:xfrm>
          <a:prstGeom prst="rect">
            <a:avLst/>
          </a:prstGeom>
          <a:solidFill>
            <a:srgbClr val="2EC4B6">
              <a:alpha val="5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" name="Shape 3"/>
          <p:cNvSpPr/>
          <p:nvPr/>
        </p:nvSpPr>
        <p:spPr>
          <a:xfrm>
            <a:off x="996696" y="1097279"/>
            <a:ext cx="45721" cy="4663442"/>
          </a:xfrm>
          <a:prstGeom prst="rect">
            <a:avLst/>
          </a:prstGeom>
          <a:solidFill>
            <a:srgbClr val="2EC4B6">
              <a:alpha val="3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Shape 4"/>
          <p:cNvSpPr/>
          <p:nvPr/>
        </p:nvSpPr>
        <p:spPr>
          <a:xfrm>
            <a:off x="10607040" y="1371600"/>
            <a:ext cx="164593" cy="164593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" name="Shape 5"/>
          <p:cNvSpPr/>
          <p:nvPr/>
        </p:nvSpPr>
        <p:spPr>
          <a:xfrm>
            <a:off x="10927080" y="1371600"/>
            <a:ext cx="164593" cy="164593"/>
          </a:xfrm>
          <a:prstGeom prst="ellipse">
            <a:avLst/>
          </a:prstGeom>
          <a:solidFill>
            <a:srgbClr val="FF6B6B">
              <a:alpha val="7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" name="Shape 6"/>
          <p:cNvSpPr/>
          <p:nvPr/>
        </p:nvSpPr>
        <p:spPr>
          <a:xfrm>
            <a:off x="11247119" y="1371600"/>
            <a:ext cx="164593" cy="164593"/>
          </a:xfrm>
          <a:prstGeom prst="ellipse">
            <a:avLst/>
          </a:prstGeom>
          <a:solidFill>
            <a:srgbClr val="FFA94D">
              <a:alpha val="7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Shape 7"/>
          <p:cNvSpPr/>
          <p:nvPr/>
        </p:nvSpPr>
        <p:spPr>
          <a:xfrm>
            <a:off x="10607040" y="2011679"/>
            <a:ext cx="164593" cy="164593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Shape 8"/>
          <p:cNvSpPr/>
          <p:nvPr/>
        </p:nvSpPr>
        <p:spPr>
          <a:xfrm>
            <a:off x="10927080" y="2011679"/>
            <a:ext cx="164593" cy="164593"/>
          </a:xfrm>
          <a:prstGeom prst="ellipse">
            <a:avLst/>
          </a:prstGeom>
          <a:solidFill>
            <a:srgbClr val="FF6B6B">
              <a:alpha val="7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Shape 9"/>
          <p:cNvSpPr/>
          <p:nvPr/>
        </p:nvSpPr>
        <p:spPr>
          <a:xfrm>
            <a:off x="11247119" y="2011679"/>
            <a:ext cx="164593" cy="164593"/>
          </a:xfrm>
          <a:prstGeom prst="ellipse">
            <a:avLst/>
          </a:prstGeom>
          <a:solidFill>
            <a:srgbClr val="FFA94D">
              <a:alpha val="7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" name="Shape 10"/>
          <p:cNvSpPr/>
          <p:nvPr/>
        </p:nvSpPr>
        <p:spPr>
          <a:xfrm>
            <a:off x="10607040" y="2651760"/>
            <a:ext cx="164593" cy="164593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Shape 11"/>
          <p:cNvSpPr/>
          <p:nvPr/>
        </p:nvSpPr>
        <p:spPr>
          <a:xfrm>
            <a:off x="10927080" y="2651760"/>
            <a:ext cx="164593" cy="164593"/>
          </a:xfrm>
          <a:prstGeom prst="ellipse">
            <a:avLst/>
          </a:prstGeom>
          <a:solidFill>
            <a:srgbClr val="FF6B6B">
              <a:alpha val="7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Shape 12"/>
          <p:cNvSpPr/>
          <p:nvPr/>
        </p:nvSpPr>
        <p:spPr>
          <a:xfrm>
            <a:off x="11247119" y="2651760"/>
            <a:ext cx="164593" cy="164593"/>
          </a:xfrm>
          <a:prstGeom prst="ellipse">
            <a:avLst/>
          </a:prstGeom>
          <a:solidFill>
            <a:srgbClr val="FFA94D">
              <a:alpha val="7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Shape 13"/>
          <p:cNvSpPr/>
          <p:nvPr/>
        </p:nvSpPr>
        <p:spPr>
          <a:xfrm>
            <a:off x="10607040" y="3291840"/>
            <a:ext cx="164593" cy="164593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Shape 14"/>
          <p:cNvSpPr/>
          <p:nvPr/>
        </p:nvSpPr>
        <p:spPr>
          <a:xfrm>
            <a:off x="10927080" y="3291840"/>
            <a:ext cx="164593" cy="164593"/>
          </a:xfrm>
          <a:prstGeom prst="ellipse">
            <a:avLst/>
          </a:prstGeom>
          <a:solidFill>
            <a:srgbClr val="FF6B6B">
              <a:alpha val="7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Shape 15"/>
          <p:cNvSpPr/>
          <p:nvPr/>
        </p:nvSpPr>
        <p:spPr>
          <a:xfrm>
            <a:off x="11247119" y="3291840"/>
            <a:ext cx="164593" cy="164593"/>
          </a:xfrm>
          <a:prstGeom prst="ellipse">
            <a:avLst/>
          </a:prstGeom>
          <a:solidFill>
            <a:srgbClr val="FFA94D">
              <a:alpha val="7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Shape 16"/>
          <p:cNvSpPr/>
          <p:nvPr/>
        </p:nvSpPr>
        <p:spPr>
          <a:xfrm>
            <a:off x="10607040" y="3931920"/>
            <a:ext cx="164593" cy="164593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Shape 17"/>
          <p:cNvSpPr/>
          <p:nvPr/>
        </p:nvSpPr>
        <p:spPr>
          <a:xfrm>
            <a:off x="10927080" y="3931920"/>
            <a:ext cx="164593" cy="164593"/>
          </a:xfrm>
          <a:prstGeom prst="ellipse">
            <a:avLst/>
          </a:prstGeom>
          <a:solidFill>
            <a:srgbClr val="FF6B6B">
              <a:alpha val="7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Shape 18"/>
          <p:cNvSpPr/>
          <p:nvPr/>
        </p:nvSpPr>
        <p:spPr>
          <a:xfrm>
            <a:off x="11247119" y="3931920"/>
            <a:ext cx="164593" cy="164593"/>
          </a:xfrm>
          <a:prstGeom prst="ellipse">
            <a:avLst/>
          </a:prstGeom>
          <a:solidFill>
            <a:srgbClr val="FFA94D">
              <a:alpha val="7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Text 19"/>
          <p:cNvSpPr txBox="1"/>
          <p:nvPr/>
        </p:nvSpPr>
        <p:spPr>
          <a:xfrm>
            <a:off x="1508759" y="2303779"/>
            <a:ext cx="9052561" cy="87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4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SparseAttnSharedkv 算子详解</a:t>
            </a:r>
          </a:p>
        </p:txBody>
      </p:sp>
      <p:sp>
        <p:nvSpPr>
          <p:cNvPr id="40" name="Text 20"/>
          <p:cNvSpPr txBox="1"/>
          <p:nvPr/>
        </p:nvSpPr>
        <p:spPr>
          <a:xfrm>
            <a:off x="1508759" y="3649979"/>
            <a:ext cx="905256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—— 数学原理与功能讲解 (面向初学者)</a:t>
            </a:r>
          </a:p>
        </p:txBody>
      </p:sp>
      <p:sp>
        <p:nvSpPr>
          <p:cNvPr id="41" name="Shape 21"/>
          <p:cNvSpPr/>
          <p:nvPr/>
        </p:nvSpPr>
        <p:spPr>
          <a:xfrm>
            <a:off x="5166359" y="4572000"/>
            <a:ext cx="1828801" cy="36577"/>
          </a:xfrm>
          <a:prstGeom prst="rect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Text 22"/>
          <p:cNvSpPr txBox="1"/>
          <p:nvPr/>
        </p:nvSpPr>
        <p:spPr>
          <a:xfrm>
            <a:off x="1508759" y="4902200"/>
            <a:ext cx="90525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1400">
                <a:solidFill>
                  <a:srgbClr val="FFFFFF"/>
                </a:solidFill>
              </a:defRPr>
            </a:lvl1pPr>
          </a:lstStyle>
          <a:p>
            <a:pPr/>
            <a:r>
              <a:t>基础数学 · 注意力机制 · 长上下文优化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 txBox="1"/>
          <p:nvPr/>
        </p:nvSpPr>
        <p:spPr>
          <a:xfrm>
            <a:off x="594359" y="491490"/>
            <a:ext cx="10881361" cy="662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目录 · 学习路线</a:t>
            </a:r>
          </a:p>
        </p:txBody>
      </p:sp>
      <p:sp>
        <p:nvSpPr>
          <p:cNvPr id="45" name="Shape 1"/>
          <p:cNvSpPr/>
          <p:nvPr/>
        </p:nvSpPr>
        <p:spPr>
          <a:xfrm>
            <a:off x="548640" y="1207008"/>
            <a:ext cx="1371601" cy="45721"/>
          </a:xfrm>
          <a:prstGeom prst="rect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Shape 2"/>
          <p:cNvSpPr/>
          <p:nvPr/>
        </p:nvSpPr>
        <p:spPr>
          <a:xfrm>
            <a:off x="548640" y="1554480"/>
            <a:ext cx="3611880" cy="2148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Shape 3"/>
          <p:cNvSpPr/>
          <p:nvPr/>
        </p:nvSpPr>
        <p:spPr>
          <a:xfrm>
            <a:off x="777240" y="1828800"/>
            <a:ext cx="777241" cy="777241"/>
          </a:xfrm>
          <a:prstGeom prst="ellipse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" name="Text 4"/>
          <p:cNvSpPr txBox="1"/>
          <p:nvPr/>
        </p:nvSpPr>
        <p:spPr>
          <a:xfrm>
            <a:off x="822960" y="1962150"/>
            <a:ext cx="685801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9" name="Text 5"/>
          <p:cNvSpPr txBox="1"/>
          <p:nvPr/>
        </p:nvSpPr>
        <p:spPr>
          <a:xfrm>
            <a:off x="1737359" y="1921509"/>
            <a:ext cx="224028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名字拆解</a:t>
            </a:r>
          </a:p>
        </p:txBody>
      </p:sp>
      <p:sp>
        <p:nvSpPr>
          <p:cNvPr id="50" name="Text 6"/>
          <p:cNvSpPr txBox="1"/>
          <p:nvPr/>
        </p:nvSpPr>
        <p:spPr>
          <a:xfrm>
            <a:off x="1737359" y="2527607"/>
            <a:ext cx="224028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200">
                <a:solidFill>
                  <a:srgbClr val="2EC4B6"/>
                </a:solidFill>
              </a:defRPr>
            </a:lvl1pPr>
          </a:lstStyle>
          <a:p>
            <a:pPr/>
            <a:r>
              <a:t>Sparse · Attn · Shared · kv</a:t>
            </a:r>
          </a:p>
        </p:txBody>
      </p:sp>
      <p:sp>
        <p:nvSpPr>
          <p:cNvPr id="51" name="Shape 7"/>
          <p:cNvSpPr/>
          <p:nvPr/>
        </p:nvSpPr>
        <p:spPr>
          <a:xfrm>
            <a:off x="777239" y="3383279"/>
            <a:ext cx="3154682" cy="36577"/>
          </a:xfrm>
          <a:prstGeom prst="rect">
            <a:avLst/>
          </a:prstGeom>
          <a:solidFill>
            <a:srgbClr val="2EC4B6">
              <a:alpha val="5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" name="Shape 8"/>
          <p:cNvSpPr/>
          <p:nvPr/>
        </p:nvSpPr>
        <p:spPr>
          <a:xfrm>
            <a:off x="4297679" y="1554480"/>
            <a:ext cx="3611881" cy="2148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Shape 9"/>
          <p:cNvSpPr/>
          <p:nvPr/>
        </p:nvSpPr>
        <p:spPr>
          <a:xfrm>
            <a:off x="4526279" y="1828800"/>
            <a:ext cx="777241" cy="777241"/>
          </a:xfrm>
          <a:prstGeom prst="ellipse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ext 10"/>
          <p:cNvSpPr txBox="1"/>
          <p:nvPr/>
        </p:nvSpPr>
        <p:spPr>
          <a:xfrm>
            <a:off x="4572000" y="1962150"/>
            <a:ext cx="685800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5" name="Text 11"/>
          <p:cNvSpPr txBox="1"/>
          <p:nvPr/>
        </p:nvSpPr>
        <p:spPr>
          <a:xfrm>
            <a:off x="5486400" y="1921509"/>
            <a:ext cx="224028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Attention 基础</a:t>
            </a:r>
          </a:p>
        </p:txBody>
      </p:sp>
      <p:sp>
        <p:nvSpPr>
          <p:cNvPr id="56" name="Text 12"/>
          <p:cNvSpPr txBox="1"/>
          <p:nvPr/>
        </p:nvSpPr>
        <p:spPr>
          <a:xfrm>
            <a:off x="5486400" y="2498090"/>
            <a:ext cx="224028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200">
                <a:solidFill>
                  <a:srgbClr val="2EC4B6"/>
                </a:solidFill>
              </a:defRPr>
            </a:lvl1pPr>
          </a:lstStyle>
          <a:p>
            <a:pPr/>
            <a:r>
              <a:t>token / 向量 / Q-K-V</a:t>
            </a:r>
          </a:p>
        </p:txBody>
      </p:sp>
      <p:sp>
        <p:nvSpPr>
          <p:cNvPr id="57" name="Shape 13"/>
          <p:cNvSpPr/>
          <p:nvPr/>
        </p:nvSpPr>
        <p:spPr>
          <a:xfrm>
            <a:off x="4526279" y="3383279"/>
            <a:ext cx="3154682" cy="36577"/>
          </a:xfrm>
          <a:prstGeom prst="rect">
            <a:avLst/>
          </a:prstGeom>
          <a:solidFill>
            <a:srgbClr val="2EC4B6">
              <a:alpha val="5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Shape 14"/>
          <p:cNvSpPr/>
          <p:nvPr/>
        </p:nvSpPr>
        <p:spPr>
          <a:xfrm>
            <a:off x="8046719" y="1554480"/>
            <a:ext cx="3611881" cy="2148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Shape 15"/>
          <p:cNvSpPr/>
          <p:nvPr/>
        </p:nvSpPr>
        <p:spPr>
          <a:xfrm>
            <a:off x="8275319" y="1828800"/>
            <a:ext cx="777241" cy="777241"/>
          </a:xfrm>
          <a:prstGeom prst="ellipse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" name="Text 16"/>
          <p:cNvSpPr txBox="1"/>
          <p:nvPr/>
        </p:nvSpPr>
        <p:spPr>
          <a:xfrm>
            <a:off x="8321039" y="1962150"/>
            <a:ext cx="685801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1" name="Text 17"/>
          <p:cNvSpPr txBox="1"/>
          <p:nvPr/>
        </p:nvSpPr>
        <p:spPr>
          <a:xfrm>
            <a:off x="9235439" y="1921509"/>
            <a:ext cx="224028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三种省算力策略</a:t>
            </a:r>
          </a:p>
        </p:txBody>
      </p:sp>
      <p:sp>
        <p:nvSpPr>
          <p:cNvPr id="62" name="Text 18"/>
          <p:cNvSpPr txBox="1"/>
          <p:nvPr/>
        </p:nvSpPr>
        <p:spPr>
          <a:xfrm>
            <a:off x="9235439" y="2527607"/>
            <a:ext cx="224028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200">
                <a:solidFill>
                  <a:srgbClr val="2EC4B6"/>
                </a:solidFill>
              </a:defRPr>
            </a:lvl1pPr>
          </a:lstStyle>
          <a:p>
            <a:pPr/>
            <a:r>
              <a:t>SWA · CFA · SCFA</a:t>
            </a:r>
          </a:p>
        </p:txBody>
      </p:sp>
      <p:sp>
        <p:nvSpPr>
          <p:cNvPr id="63" name="Shape 19"/>
          <p:cNvSpPr/>
          <p:nvPr/>
        </p:nvSpPr>
        <p:spPr>
          <a:xfrm>
            <a:off x="8275319" y="3383279"/>
            <a:ext cx="3154681" cy="36577"/>
          </a:xfrm>
          <a:prstGeom prst="rect">
            <a:avLst/>
          </a:prstGeom>
          <a:solidFill>
            <a:srgbClr val="2EC4B6">
              <a:alpha val="5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Shape 20"/>
          <p:cNvSpPr/>
          <p:nvPr/>
        </p:nvSpPr>
        <p:spPr>
          <a:xfrm>
            <a:off x="548640" y="3931920"/>
            <a:ext cx="3611880" cy="214884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Shape 21"/>
          <p:cNvSpPr/>
          <p:nvPr/>
        </p:nvSpPr>
        <p:spPr>
          <a:xfrm>
            <a:off x="777240" y="4206240"/>
            <a:ext cx="777241" cy="777241"/>
          </a:xfrm>
          <a:prstGeom prst="ellipse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22"/>
          <p:cNvSpPr txBox="1"/>
          <p:nvPr/>
        </p:nvSpPr>
        <p:spPr>
          <a:xfrm>
            <a:off x="822960" y="4339590"/>
            <a:ext cx="685801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7" name="Text 23"/>
          <p:cNvSpPr txBox="1"/>
          <p:nvPr/>
        </p:nvSpPr>
        <p:spPr>
          <a:xfrm>
            <a:off x="1737359" y="4298949"/>
            <a:ext cx="224028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共享 KV (MQA)</a:t>
            </a:r>
          </a:p>
        </p:txBody>
      </p:sp>
      <p:sp>
        <p:nvSpPr>
          <p:cNvPr id="68" name="Text 24"/>
          <p:cNvSpPr txBox="1"/>
          <p:nvPr/>
        </p:nvSpPr>
        <p:spPr>
          <a:xfrm>
            <a:off x="1737359" y="4875530"/>
            <a:ext cx="224028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200">
                <a:solidFill>
                  <a:srgbClr val="2EC4B6"/>
                </a:solidFill>
              </a:defRPr>
            </a:lvl1pPr>
          </a:lstStyle>
          <a:p>
            <a:pPr/>
            <a:r>
              <a:t>多 q 头共用一套 KV</a:t>
            </a:r>
          </a:p>
        </p:txBody>
      </p:sp>
      <p:sp>
        <p:nvSpPr>
          <p:cNvPr id="69" name="Shape 25"/>
          <p:cNvSpPr/>
          <p:nvPr/>
        </p:nvSpPr>
        <p:spPr>
          <a:xfrm>
            <a:off x="777239" y="5760720"/>
            <a:ext cx="3154682" cy="36577"/>
          </a:xfrm>
          <a:prstGeom prst="rect">
            <a:avLst/>
          </a:prstGeom>
          <a:solidFill>
            <a:srgbClr val="2EC4B6">
              <a:alpha val="5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0" name="Shape 26"/>
          <p:cNvSpPr/>
          <p:nvPr/>
        </p:nvSpPr>
        <p:spPr>
          <a:xfrm>
            <a:off x="4297679" y="3931920"/>
            <a:ext cx="3611881" cy="214884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Shape 27"/>
          <p:cNvSpPr/>
          <p:nvPr/>
        </p:nvSpPr>
        <p:spPr>
          <a:xfrm>
            <a:off x="4526279" y="4206240"/>
            <a:ext cx="777241" cy="777241"/>
          </a:xfrm>
          <a:prstGeom prst="ellipse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Text 28"/>
          <p:cNvSpPr txBox="1"/>
          <p:nvPr/>
        </p:nvSpPr>
        <p:spPr>
          <a:xfrm>
            <a:off x="4572000" y="4339590"/>
            <a:ext cx="685800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3" name="Text 29"/>
          <p:cNvSpPr txBox="1"/>
          <p:nvPr/>
        </p:nvSpPr>
        <p:spPr>
          <a:xfrm>
            <a:off x="5486400" y="4298949"/>
            <a:ext cx="224028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softmax 三件套</a:t>
            </a:r>
          </a:p>
        </p:txBody>
      </p:sp>
      <p:sp>
        <p:nvSpPr>
          <p:cNvPr id="74" name="Text 30"/>
          <p:cNvSpPr txBox="1"/>
          <p:nvPr/>
        </p:nvSpPr>
        <p:spPr>
          <a:xfrm>
            <a:off x="5486400" y="4905047"/>
            <a:ext cx="224028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200">
                <a:solidFill>
                  <a:srgbClr val="2EC4B6"/>
                </a:solidFill>
              </a:defRPr>
            </a:lvl1pPr>
          </a:lstStyle>
          <a:p>
            <a:pPr/>
            <a:r>
              <a:t>scale · mask · sinks</a:t>
            </a:r>
          </a:p>
        </p:txBody>
      </p:sp>
      <p:sp>
        <p:nvSpPr>
          <p:cNvPr id="75" name="Shape 31"/>
          <p:cNvSpPr/>
          <p:nvPr/>
        </p:nvSpPr>
        <p:spPr>
          <a:xfrm>
            <a:off x="4526279" y="5760720"/>
            <a:ext cx="3154682" cy="36577"/>
          </a:xfrm>
          <a:prstGeom prst="rect">
            <a:avLst/>
          </a:prstGeom>
          <a:solidFill>
            <a:srgbClr val="2EC4B6">
              <a:alpha val="5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Shape 32"/>
          <p:cNvSpPr/>
          <p:nvPr/>
        </p:nvSpPr>
        <p:spPr>
          <a:xfrm>
            <a:off x="8046719" y="3931920"/>
            <a:ext cx="3611881" cy="214884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Shape 33"/>
          <p:cNvSpPr/>
          <p:nvPr/>
        </p:nvSpPr>
        <p:spPr>
          <a:xfrm>
            <a:off x="8275319" y="4206240"/>
            <a:ext cx="777241" cy="777241"/>
          </a:xfrm>
          <a:prstGeom prst="ellipse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8" name="Text 34"/>
          <p:cNvSpPr txBox="1"/>
          <p:nvPr/>
        </p:nvSpPr>
        <p:spPr>
          <a:xfrm>
            <a:off x="8321039" y="4339590"/>
            <a:ext cx="685801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9" name="Text 35"/>
          <p:cNvSpPr txBox="1"/>
          <p:nvPr/>
        </p:nvSpPr>
        <p:spPr>
          <a:xfrm>
            <a:off x="9235439" y="4298949"/>
            <a:ext cx="224028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完整算法 + 例子</a:t>
            </a:r>
          </a:p>
        </p:txBody>
      </p:sp>
      <p:sp>
        <p:nvSpPr>
          <p:cNvPr id="80" name="Text 36"/>
          <p:cNvSpPr txBox="1"/>
          <p:nvPr/>
        </p:nvSpPr>
        <p:spPr>
          <a:xfrm>
            <a:off x="9235439" y="4875530"/>
            <a:ext cx="224028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200">
                <a:solidFill>
                  <a:srgbClr val="2EC4B6"/>
                </a:solidFill>
              </a:defRPr>
            </a:lvl1pPr>
          </a:lstStyle>
          <a:p>
            <a:pPr/>
            <a:r>
              <a:t>numpy 实现 / 走一遍</a:t>
            </a:r>
          </a:p>
        </p:txBody>
      </p:sp>
      <p:sp>
        <p:nvSpPr>
          <p:cNvPr id="81" name="Shape 37"/>
          <p:cNvSpPr/>
          <p:nvPr/>
        </p:nvSpPr>
        <p:spPr>
          <a:xfrm>
            <a:off x="8275319" y="5760720"/>
            <a:ext cx="3154681" cy="36577"/>
          </a:xfrm>
          <a:prstGeom prst="rect">
            <a:avLst/>
          </a:prstGeom>
          <a:solidFill>
            <a:srgbClr val="2EC4B6">
              <a:alpha val="5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0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Text 1"/>
          <p:cNvSpPr txBox="1"/>
          <p:nvPr/>
        </p:nvSpPr>
        <p:spPr>
          <a:xfrm>
            <a:off x="685799" y="382270"/>
            <a:ext cx="1097280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60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第 1 章 · 名字读懂了, 事就懂一半</a:t>
            </a:r>
          </a:p>
        </p:txBody>
      </p:sp>
      <p:sp>
        <p:nvSpPr>
          <p:cNvPr id="85" name="Text 2"/>
          <p:cNvSpPr txBox="1"/>
          <p:nvPr/>
        </p:nvSpPr>
        <p:spPr>
          <a:xfrm>
            <a:off x="594359" y="1160779"/>
            <a:ext cx="1097280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2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Sparse - Attn - Shared - kv</a:t>
            </a:r>
          </a:p>
        </p:txBody>
      </p:sp>
      <p:sp>
        <p:nvSpPr>
          <p:cNvPr id="86" name="Shape 3"/>
          <p:cNvSpPr/>
          <p:nvPr/>
        </p:nvSpPr>
        <p:spPr>
          <a:xfrm>
            <a:off x="617219" y="1828800"/>
            <a:ext cx="2560322" cy="640081"/>
          </a:xfrm>
          <a:prstGeom prst="rect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Text 4"/>
          <p:cNvSpPr txBox="1"/>
          <p:nvPr/>
        </p:nvSpPr>
        <p:spPr>
          <a:xfrm>
            <a:off x="662939" y="1938019"/>
            <a:ext cx="2468882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Sparse</a:t>
            </a:r>
          </a:p>
        </p:txBody>
      </p:sp>
      <p:sp>
        <p:nvSpPr>
          <p:cNvPr id="88" name="Shape 5"/>
          <p:cNvSpPr/>
          <p:nvPr/>
        </p:nvSpPr>
        <p:spPr>
          <a:xfrm>
            <a:off x="617219" y="2468879"/>
            <a:ext cx="2560322" cy="2103121"/>
          </a:xfrm>
          <a:prstGeom prst="rect">
            <a:avLst/>
          </a:prstGeom>
          <a:solidFill>
            <a:srgbClr val="F7F9FC"/>
          </a:solidFill>
          <a:ln w="1270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Text 6"/>
          <p:cNvSpPr txBox="1"/>
          <p:nvPr/>
        </p:nvSpPr>
        <p:spPr>
          <a:xfrm>
            <a:off x="662939" y="2762249"/>
            <a:ext cx="2468882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400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稀疏</a:t>
            </a:r>
          </a:p>
        </p:txBody>
      </p:sp>
      <p:sp>
        <p:nvSpPr>
          <p:cNvPr id="90" name="Text 7"/>
          <p:cNvSpPr txBox="1"/>
          <p:nvPr/>
        </p:nvSpPr>
        <p:spPr>
          <a:xfrm>
            <a:off x="800100" y="3429000"/>
            <a:ext cx="2194561" cy="345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>
                <a:solidFill>
                  <a:srgbClr val="1A2332"/>
                </a:solidFill>
              </a:defRPr>
            </a:lvl1pPr>
          </a:lstStyle>
          <a:p>
            <a:pPr/>
            <a:r>
              <a:t>不全算, 只挑一部分</a:t>
            </a:r>
          </a:p>
        </p:txBody>
      </p:sp>
      <p:sp>
        <p:nvSpPr>
          <p:cNvPr id="91" name="Shape 8"/>
          <p:cNvSpPr/>
          <p:nvPr/>
        </p:nvSpPr>
        <p:spPr>
          <a:xfrm>
            <a:off x="3406140" y="1828800"/>
            <a:ext cx="2560321" cy="640081"/>
          </a:xfrm>
          <a:prstGeom prst="rect">
            <a:avLst/>
          </a:prstGeom>
          <a:solidFill>
            <a:srgbClr val="FF6B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Text 9"/>
          <p:cNvSpPr txBox="1"/>
          <p:nvPr/>
        </p:nvSpPr>
        <p:spPr>
          <a:xfrm>
            <a:off x="3451860" y="1938019"/>
            <a:ext cx="246888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Attn</a:t>
            </a:r>
          </a:p>
        </p:txBody>
      </p:sp>
      <p:sp>
        <p:nvSpPr>
          <p:cNvPr id="93" name="Shape 10"/>
          <p:cNvSpPr/>
          <p:nvPr/>
        </p:nvSpPr>
        <p:spPr>
          <a:xfrm>
            <a:off x="3406140" y="2468879"/>
            <a:ext cx="2560321" cy="2103121"/>
          </a:xfrm>
          <a:prstGeom prst="rect">
            <a:avLst/>
          </a:prstGeom>
          <a:solidFill>
            <a:srgbClr val="F7F9FC"/>
          </a:solidFill>
          <a:ln w="12700">
            <a:solidFill>
              <a:srgbClr val="FF6B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Text 11"/>
          <p:cNvSpPr txBox="1"/>
          <p:nvPr/>
        </p:nvSpPr>
        <p:spPr>
          <a:xfrm>
            <a:off x="3451860" y="2762249"/>
            <a:ext cx="2468881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400">
                <a:solidFill>
                  <a:srgbClr val="FF6B6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注意力</a:t>
            </a:r>
          </a:p>
        </p:txBody>
      </p:sp>
      <p:sp>
        <p:nvSpPr>
          <p:cNvPr id="95" name="Text 12"/>
          <p:cNvSpPr txBox="1"/>
          <p:nvPr/>
        </p:nvSpPr>
        <p:spPr>
          <a:xfrm>
            <a:off x="3589020" y="3429000"/>
            <a:ext cx="2194561" cy="345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>
                <a:solidFill>
                  <a:srgbClr val="1A2332"/>
                </a:solidFill>
              </a:defRPr>
            </a:lvl1pPr>
          </a:lstStyle>
          <a:p>
            <a:pPr/>
            <a:r>
              <a:t>attention 缩写</a:t>
            </a:r>
          </a:p>
        </p:txBody>
      </p:sp>
      <p:sp>
        <p:nvSpPr>
          <p:cNvPr id="96" name="Shape 13"/>
          <p:cNvSpPr/>
          <p:nvPr/>
        </p:nvSpPr>
        <p:spPr>
          <a:xfrm>
            <a:off x="6195059" y="1828800"/>
            <a:ext cx="2560321" cy="640081"/>
          </a:xfrm>
          <a:prstGeom prst="rect">
            <a:avLst/>
          </a:prstGeom>
          <a:solidFill>
            <a:srgbClr val="FFA9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Text 14"/>
          <p:cNvSpPr txBox="1"/>
          <p:nvPr/>
        </p:nvSpPr>
        <p:spPr>
          <a:xfrm>
            <a:off x="6240779" y="1938019"/>
            <a:ext cx="2468882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Shared</a:t>
            </a:r>
          </a:p>
        </p:txBody>
      </p:sp>
      <p:sp>
        <p:nvSpPr>
          <p:cNvPr id="98" name="Shape 15"/>
          <p:cNvSpPr/>
          <p:nvPr/>
        </p:nvSpPr>
        <p:spPr>
          <a:xfrm>
            <a:off x="6195059" y="2468879"/>
            <a:ext cx="2560321" cy="2103121"/>
          </a:xfrm>
          <a:prstGeom prst="rect">
            <a:avLst/>
          </a:prstGeom>
          <a:solidFill>
            <a:srgbClr val="F7F9FC"/>
          </a:solidFill>
          <a:ln w="12700">
            <a:solidFill>
              <a:srgbClr val="FFA94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Text 16"/>
          <p:cNvSpPr txBox="1"/>
          <p:nvPr/>
        </p:nvSpPr>
        <p:spPr>
          <a:xfrm>
            <a:off x="6240779" y="2762249"/>
            <a:ext cx="2468882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400">
                <a:solidFill>
                  <a:srgbClr val="FFA94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共享</a:t>
            </a:r>
          </a:p>
        </p:txBody>
      </p:sp>
      <p:sp>
        <p:nvSpPr>
          <p:cNvPr id="100" name="Text 17"/>
          <p:cNvSpPr txBox="1"/>
          <p:nvPr/>
        </p:nvSpPr>
        <p:spPr>
          <a:xfrm>
            <a:off x="6377940" y="3429000"/>
            <a:ext cx="2194561" cy="345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>
                <a:solidFill>
                  <a:srgbClr val="1A2332"/>
                </a:solidFill>
              </a:defRPr>
            </a:lvl1pPr>
          </a:lstStyle>
          <a:p>
            <a:pPr/>
            <a:r>
              <a:t>多个 q 头共用</a:t>
            </a:r>
          </a:p>
        </p:txBody>
      </p:sp>
      <p:sp>
        <p:nvSpPr>
          <p:cNvPr id="101" name="Shape 18"/>
          <p:cNvSpPr/>
          <p:nvPr/>
        </p:nvSpPr>
        <p:spPr>
          <a:xfrm>
            <a:off x="8983980" y="1828800"/>
            <a:ext cx="2560321" cy="640081"/>
          </a:xfrm>
          <a:prstGeom prst="rect">
            <a:avLst/>
          </a:prstGeom>
          <a:solidFill>
            <a:srgbClr val="1E3A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Text 19"/>
          <p:cNvSpPr txBox="1"/>
          <p:nvPr/>
        </p:nvSpPr>
        <p:spPr>
          <a:xfrm>
            <a:off x="9029700" y="1938019"/>
            <a:ext cx="246888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kv</a:t>
            </a:r>
          </a:p>
        </p:txBody>
      </p:sp>
      <p:sp>
        <p:nvSpPr>
          <p:cNvPr id="103" name="Shape 20"/>
          <p:cNvSpPr/>
          <p:nvPr/>
        </p:nvSpPr>
        <p:spPr>
          <a:xfrm>
            <a:off x="8983980" y="2468879"/>
            <a:ext cx="2560321" cy="2103121"/>
          </a:xfrm>
          <a:prstGeom prst="rect">
            <a:avLst/>
          </a:prstGeom>
          <a:solidFill>
            <a:srgbClr val="F7F9FC"/>
          </a:solidFill>
          <a:ln w="12700">
            <a:solidFill>
              <a:srgbClr val="1E3A5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" name="Text 21"/>
          <p:cNvSpPr txBox="1"/>
          <p:nvPr/>
        </p:nvSpPr>
        <p:spPr>
          <a:xfrm>
            <a:off x="9029700" y="2762249"/>
            <a:ext cx="2468881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40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键 + 值</a:t>
            </a:r>
          </a:p>
        </p:txBody>
      </p:sp>
      <p:sp>
        <p:nvSpPr>
          <p:cNvPr id="105" name="Text 22"/>
          <p:cNvSpPr txBox="1"/>
          <p:nvPr/>
        </p:nvSpPr>
        <p:spPr>
          <a:xfrm>
            <a:off x="9166859" y="3429000"/>
            <a:ext cx="2194561" cy="345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>
                <a:solidFill>
                  <a:srgbClr val="1A2332"/>
                </a:solidFill>
              </a:defRPr>
            </a:lvl1pPr>
          </a:lstStyle>
          <a:p>
            <a:pPr/>
            <a:r>
              <a:t>Key 和 Value</a:t>
            </a:r>
          </a:p>
        </p:txBody>
      </p:sp>
      <p:sp>
        <p:nvSpPr>
          <p:cNvPr id="106" name="Shape 23"/>
          <p:cNvSpPr/>
          <p:nvPr/>
        </p:nvSpPr>
        <p:spPr>
          <a:xfrm>
            <a:off x="731519" y="5029200"/>
            <a:ext cx="10698482" cy="1188720"/>
          </a:xfrm>
          <a:prstGeom prst="rect">
            <a:avLst/>
          </a:prstGeom>
          <a:solidFill>
            <a:srgbClr val="1E3A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Text 24"/>
          <p:cNvSpPr txBox="1"/>
          <p:nvPr/>
        </p:nvSpPr>
        <p:spPr>
          <a:xfrm>
            <a:off x="960119" y="5438140"/>
            <a:ext cx="1024128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合在一起 = 用「稀疏」的方式做「注意力」计算, 且「query 头很多」但「KV 头只有一份」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0" name="Text 1"/>
          <p:cNvSpPr txBox="1"/>
          <p:nvPr/>
        </p:nvSpPr>
        <p:spPr>
          <a:xfrm>
            <a:off x="685799" y="382270"/>
            <a:ext cx="1097280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60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第 2 章 · 什么是 Attention (1/2): token 与向量</a:t>
            </a:r>
          </a:p>
        </p:txBody>
      </p:sp>
      <p:sp>
        <p:nvSpPr>
          <p:cNvPr id="111" name="Shape 2"/>
          <p:cNvSpPr/>
          <p:nvPr/>
        </p:nvSpPr>
        <p:spPr>
          <a:xfrm>
            <a:off x="457199" y="1188719"/>
            <a:ext cx="5303522" cy="5029201"/>
          </a:xfrm>
          <a:prstGeom prst="rect">
            <a:avLst/>
          </a:prstGeom>
          <a:solidFill>
            <a:srgbClr val="F7F9FC"/>
          </a:solidFill>
          <a:ln w="1270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Text 3"/>
          <p:cNvSpPr txBox="1"/>
          <p:nvPr/>
        </p:nvSpPr>
        <p:spPr>
          <a:xfrm>
            <a:off x="685800" y="1350010"/>
            <a:ext cx="4937760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基础概念</a:t>
            </a:r>
          </a:p>
        </p:txBody>
      </p:sp>
      <p:sp>
        <p:nvSpPr>
          <p:cNvPr id="113" name="Text 4"/>
          <p:cNvSpPr txBox="1"/>
          <p:nvPr/>
        </p:nvSpPr>
        <p:spPr>
          <a:xfrm>
            <a:off x="685800" y="1783079"/>
            <a:ext cx="4937760" cy="3021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400"/>
              </a:spcBef>
              <a:defRPr b="1" sz="1400">
                <a:solidFill>
                  <a:srgbClr val="FF6B6B"/>
                </a:solidFill>
              </a:defRPr>
            </a:pPr>
            <a:r>
              <a:t>1. Token 是什么?</a:t>
            </a:r>
          </a:p>
          <a:p>
            <a:pPr>
              <a:spcBef>
                <a:spcPts val="400"/>
              </a:spcBef>
              <a:defRPr b="1" sz="1400">
                <a:solidFill>
                  <a:srgbClr val="FF6B6B"/>
                </a:solidFill>
              </a:defRPr>
            </a:pPr>
            <a:r>
              <a:rPr b="0" sz="1300">
                <a:solidFill>
                  <a:srgbClr val="1A2332"/>
                </a:solidFill>
              </a:rPr>
              <a:t>大模型一个字一个字往外吐, 每个字 (或每个词片段) 叫一个 token。</a:t>
            </a:r>
            <a:endParaRPr b="0" sz="1300">
              <a:solidFill>
                <a:srgbClr val="1A2332"/>
              </a:solidFill>
            </a:endParaRPr>
          </a:p>
          <a:p>
            <a:pPr>
              <a:spcBef>
                <a:spcPts val="400"/>
              </a:spcBef>
              <a:defRPr b="1" sz="1400">
                <a:solidFill>
                  <a:srgbClr val="FF6B6B"/>
                </a:solidFill>
              </a:defRPr>
            </a:pPr>
            <a:endParaRPr b="0" sz="1300">
              <a:solidFill>
                <a:srgbClr val="1A2332"/>
              </a:solidFill>
            </a:endParaRPr>
          </a:p>
          <a:p>
            <a:pPr>
              <a:spcBef>
                <a:spcPts val="400"/>
              </a:spcBef>
              <a:defRPr b="1" sz="1400">
                <a:solidFill>
                  <a:srgbClr val="FF6B6B"/>
                </a:solidFill>
              </a:defRPr>
            </a:pPr>
            <a:r>
              <a:rPr>
                <a:solidFill>
                  <a:srgbClr val="2EC4B6"/>
                </a:solidFill>
              </a:rPr>
              <a:t>2. 向量是什么?</a:t>
            </a:r>
            <a:endParaRPr>
              <a:solidFill>
                <a:srgbClr val="2EC4B6"/>
              </a:solidFill>
            </a:endParaRPr>
          </a:p>
          <a:p>
            <a:pPr>
              <a:spcBef>
                <a:spcPts val="400"/>
              </a:spcBef>
              <a:defRPr b="1" sz="1400">
                <a:solidFill>
                  <a:srgbClr val="FF6B6B"/>
                </a:solidFill>
              </a:defRPr>
            </a:pPr>
            <a:r>
              <a:rPr b="0" sz="1300">
                <a:solidFill>
                  <a:srgbClr val="1A2332"/>
                </a:solidFill>
              </a:rPr>
              <a:t>每个 token 进入模型后会变成一个 D 维向量 (D 通常几百到几千个数字), 用这串数字来代表它的含义。</a:t>
            </a:r>
            <a:endParaRPr b="0" sz="1300">
              <a:solidFill>
                <a:srgbClr val="1A2332"/>
              </a:solidFill>
            </a:endParaRPr>
          </a:p>
          <a:p>
            <a:pPr>
              <a:spcBef>
                <a:spcPts val="400"/>
              </a:spcBef>
              <a:defRPr b="1" sz="1400">
                <a:solidFill>
                  <a:srgbClr val="FF6B6B"/>
                </a:solidFill>
              </a:defRPr>
            </a:pPr>
            <a:endParaRPr b="0" sz="1300">
              <a:solidFill>
                <a:srgbClr val="1A2332"/>
              </a:solidFill>
            </a:endParaRPr>
          </a:p>
          <a:p>
            <a:pPr>
              <a:spcBef>
                <a:spcPts val="400"/>
              </a:spcBef>
              <a:defRPr b="1" sz="1400">
                <a:solidFill>
                  <a:srgbClr val="FF6B6B"/>
                </a:solidFill>
              </a:defRPr>
            </a:pPr>
            <a:r>
              <a:rPr>
                <a:solidFill>
                  <a:srgbClr val="FFA94D"/>
                </a:solidFill>
              </a:rPr>
              <a:t>3. 为什么需要 Attention?</a:t>
            </a:r>
            <a:endParaRPr>
              <a:solidFill>
                <a:srgbClr val="FFA94D"/>
              </a:solidFill>
            </a:endParaRPr>
          </a:p>
          <a:p>
            <a:pPr>
              <a:spcBef>
                <a:spcPts val="400"/>
              </a:spcBef>
              <a:defRPr b="1" sz="1400">
                <a:solidFill>
                  <a:srgbClr val="FF6B6B"/>
                </a:solidFill>
              </a:defRPr>
            </a:pPr>
            <a:r>
              <a:rPr b="0" sz="1300">
                <a:solidFill>
                  <a:srgbClr val="1A2332"/>
                </a:solidFill>
              </a:rPr>
              <a:t>新生成下一个字时, 模型要回头看历史里所有 token, 挑出最相关的那些参考。</a:t>
            </a:r>
          </a:p>
        </p:txBody>
      </p:sp>
      <p:sp>
        <p:nvSpPr>
          <p:cNvPr id="114" name="Text 5"/>
          <p:cNvSpPr txBox="1"/>
          <p:nvPr/>
        </p:nvSpPr>
        <p:spPr>
          <a:xfrm>
            <a:off x="6080760" y="1231899"/>
            <a:ext cx="557784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文字 → token → 向量</a:t>
            </a:r>
          </a:p>
        </p:txBody>
      </p:sp>
      <p:sp>
        <p:nvSpPr>
          <p:cNvPr id="115" name="Shape 6"/>
          <p:cNvSpPr/>
          <p:nvPr/>
        </p:nvSpPr>
        <p:spPr>
          <a:xfrm>
            <a:off x="6217920" y="1691639"/>
            <a:ext cx="5303521" cy="640081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6" name="Text 7"/>
          <p:cNvSpPr txBox="1"/>
          <p:nvPr/>
        </p:nvSpPr>
        <p:spPr>
          <a:xfrm>
            <a:off x="6263640" y="1826259"/>
            <a:ext cx="521208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1A2332"/>
                </a:solidFill>
              </a:defRPr>
            </a:lvl1pPr>
          </a:lstStyle>
          <a:p>
            <a:pPr/>
            <a:r>
              <a:t>"今天 天气 真好"</a:t>
            </a:r>
          </a:p>
        </p:txBody>
      </p:sp>
      <p:sp>
        <p:nvSpPr>
          <p:cNvPr id="117" name="Shape 8"/>
          <p:cNvSpPr/>
          <p:nvPr/>
        </p:nvSpPr>
        <p:spPr>
          <a:xfrm>
            <a:off x="8869680" y="2377440"/>
            <a:ext cx="1" cy="320041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Shape 9"/>
          <p:cNvSpPr/>
          <p:nvPr/>
        </p:nvSpPr>
        <p:spPr>
          <a:xfrm>
            <a:off x="6675119" y="2788920"/>
            <a:ext cx="1371601" cy="548641"/>
          </a:xfrm>
          <a:prstGeom prst="rect">
            <a:avLst/>
          </a:prstGeom>
          <a:solidFill>
            <a:srgbClr val="2EC4B6">
              <a:alpha val="30000"/>
            </a:srgbClr>
          </a:solidFill>
          <a:ln w="1270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Text 10"/>
          <p:cNvSpPr txBox="1"/>
          <p:nvPr/>
        </p:nvSpPr>
        <p:spPr>
          <a:xfrm>
            <a:off x="6720839" y="2903220"/>
            <a:ext cx="12801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1A2332"/>
                </a:solidFill>
              </a:defRPr>
            </a:lvl1pPr>
          </a:lstStyle>
          <a:p>
            <a:pPr/>
            <a:r>
              <a:t>今天</a:t>
            </a:r>
          </a:p>
        </p:txBody>
      </p:sp>
      <p:sp>
        <p:nvSpPr>
          <p:cNvPr id="120" name="Shape 11"/>
          <p:cNvSpPr/>
          <p:nvPr/>
        </p:nvSpPr>
        <p:spPr>
          <a:xfrm>
            <a:off x="8229600" y="2788920"/>
            <a:ext cx="1371600" cy="548641"/>
          </a:xfrm>
          <a:prstGeom prst="rect">
            <a:avLst/>
          </a:prstGeom>
          <a:solidFill>
            <a:srgbClr val="2EC4B6">
              <a:alpha val="30000"/>
            </a:srgbClr>
          </a:solidFill>
          <a:ln w="1270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Text 12"/>
          <p:cNvSpPr txBox="1"/>
          <p:nvPr/>
        </p:nvSpPr>
        <p:spPr>
          <a:xfrm>
            <a:off x="8275319" y="2903220"/>
            <a:ext cx="12801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1A2332"/>
                </a:solidFill>
              </a:defRPr>
            </a:lvl1pPr>
          </a:lstStyle>
          <a:p>
            <a:pPr/>
            <a:r>
              <a:t>天气</a:t>
            </a:r>
          </a:p>
        </p:txBody>
      </p:sp>
      <p:sp>
        <p:nvSpPr>
          <p:cNvPr id="122" name="Shape 13"/>
          <p:cNvSpPr/>
          <p:nvPr/>
        </p:nvSpPr>
        <p:spPr>
          <a:xfrm>
            <a:off x="9784080" y="2788920"/>
            <a:ext cx="1371601" cy="548641"/>
          </a:xfrm>
          <a:prstGeom prst="rect">
            <a:avLst/>
          </a:prstGeom>
          <a:solidFill>
            <a:srgbClr val="2EC4B6">
              <a:alpha val="30000"/>
            </a:srgbClr>
          </a:solidFill>
          <a:ln w="1270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Text 14"/>
          <p:cNvSpPr txBox="1"/>
          <p:nvPr/>
        </p:nvSpPr>
        <p:spPr>
          <a:xfrm>
            <a:off x="9829800" y="2903220"/>
            <a:ext cx="12801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1A2332"/>
                </a:solidFill>
              </a:defRPr>
            </a:lvl1pPr>
          </a:lstStyle>
          <a:p>
            <a:pPr/>
            <a:r>
              <a:t>真好</a:t>
            </a:r>
          </a:p>
        </p:txBody>
      </p:sp>
      <p:sp>
        <p:nvSpPr>
          <p:cNvPr id="124" name="Text 15"/>
          <p:cNvSpPr txBox="1"/>
          <p:nvPr/>
        </p:nvSpPr>
        <p:spPr>
          <a:xfrm>
            <a:off x="6263640" y="3373119"/>
            <a:ext cx="52120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1100">
                <a:solidFill>
                  <a:srgbClr val="64748B"/>
                </a:solidFill>
              </a:defRPr>
            </a:lvl1pPr>
          </a:lstStyle>
          <a:p>
            <a:pPr/>
            <a:r>
              <a:t>3 个 token</a:t>
            </a:r>
          </a:p>
        </p:txBody>
      </p:sp>
      <p:sp>
        <p:nvSpPr>
          <p:cNvPr id="125" name="Shape 16"/>
          <p:cNvSpPr/>
          <p:nvPr/>
        </p:nvSpPr>
        <p:spPr>
          <a:xfrm>
            <a:off x="8869680" y="3703320"/>
            <a:ext cx="1" cy="320041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Shape 17"/>
          <p:cNvSpPr/>
          <p:nvPr/>
        </p:nvSpPr>
        <p:spPr>
          <a:xfrm>
            <a:off x="6675119" y="4114800"/>
            <a:ext cx="1371601" cy="13716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6B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Text 18"/>
          <p:cNvSpPr txBox="1"/>
          <p:nvPr/>
        </p:nvSpPr>
        <p:spPr>
          <a:xfrm>
            <a:off x="6766559" y="4159250"/>
            <a:ext cx="118872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0.12</a:t>
            </a:r>
          </a:p>
        </p:txBody>
      </p:sp>
      <p:sp>
        <p:nvSpPr>
          <p:cNvPr id="128" name="Text 19"/>
          <p:cNvSpPr txBox="1"/>
          <p:nvPr/>
        </p:nvSpPr>
        <p:spPr>
          <a:xfrm>
            <a:off x="6766559" y="4406138"/>
            <a:ext cx="118872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-0.43</a:t>
            </a:r>
          </a:p>
        </p:txBody>
      </p:sp>
      <p:sp>
        <p:nvSpPr>
          <p:cNvPr id="129" name="Text 20"/>
          <p:cNvSpPr txBox="1"/>
          <p:nvPr/>
        </p:nvSpPr>
        <p:spPr>
          <a:xfrm>
            <a:off x="6766559" y="4653026"/>
            <a:ext cx="118872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0.88</a:t>
            </a:r>
          </a:p>
        </p:txBody>
      </p:sp>
      <p:sp>
        <p:nvSpPr>
          <p:cNvPr id="130" name="Text 21"/>
          <p:cNvSpPr txBox="1"/>
          <p:nvPr/>
        </p:nvSpPr>
        <p:spPr>
          <a:xfrm>
            <a:off x="6766559" y="4899914"/>
            <a:ext cx="118872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 ... </a:t>
            </a:r>
          </a:p>
        </p:txBody>
      </p:sp>
      <p:sp>
        <p:nvSpPr>
          <p:cNvPr id="131" name="Text 22"/>
          <p:cNvSpPr txBox="1"/>
          <p:nvPr/>
        </p:nvSpPr>
        <p:spPr>
          <a:xfrm>
            <a:off x="6766559" y="5146801"/>
            <a:ext cx="118872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0.05</a:t>
            </a:r>
          </a:p>
        </p:txBody>
      </p:sp>
      <p:sp>
        <p:nvSpPr>
          <p:cNvPr id="132" name="Shape 23"/>
          <p:cNvSpPr/>
          <p:nvPr/>
        </p:nvSpPr>
        <p:spPr>
          <a:xfrm>
            <a:off x="8229600" y="4114800"/>
            <a:ext cx="1371600" cy="13716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6B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Text 24"/>
          <p:cNvSpPr txBox="1"/>
          <p:nvPr/>
        </p:nvSpPr>
        <p:spPr>
          <a:xfrm>
            <a:off x="8321039" y="4159250"/>
            <a:ext cx="118872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0.12</a:t>
            </a:r>
          </a:p>
        </p:txBody>
      </p:sp>
      <p:sp>
        <p:nvSpPr>
          <p:cNvPr id="134" name="Text 25"/>
          <p:cNvSpPr txBox="1"/>
          <p:nvPr/>
        </p:nvSpPr>
        <p:spPr>
          <a:xfrm>
            <a:off x="8321039" y="4406138"/>
            <a:ext cx="118872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-0.43</a:t>
            </a:r>
          </a:p>
        </p:txBody>
      </p:sp>
      <p:sp>
        <p:nvSpPr>
          <p:cNvPr id="135" name="Text 26"/>
          <p:cNvSpPr txBox="1"/>
          <p:nvPr/>
        </p:nvSpPr>
        <p:spPr>
          <a:xfrm>
            <a:off x="8321039" y="4653026"/>
            <a:ext cx="118872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0.88</a:t>
            </a:r>
          </a:p>
        </p:txBody>
      </p:sp>
      <p:sp>
        <p:nvSpPr>
          <p:cNvPr id="136" name="Text 27"/>
          <p:cNvSpPr txBox="1"/>
          <p:nvPr/>
        </p:nvSpPr>
        <p:spPr>
          <a:xfrm>
            <a:off x="8321039" y="4899914"/>
            <a:ext cx="118872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 ... </a:t>
            </a:r>
          </a:p>
        </p:txBody>
      </p:sp>
      <p:sp>
        <p:nvSpPr>
          <p:cNvPr id="137" name="Text 28"/>
          <p:cNvSpPr txBox="1"/>
          <p:nvPr/>
        </p:nvSpPr>
        <p:spPr>
          <a:xfrm>
            <a:off x="8321039" y="5146801"/>
            <a:ext cx="118872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0.05</a:t>
            </a:r>
          </a:p>
        </p:txBody>
      </p:sp>
      <p:sp>
        <p:nvSpPr>
          <p:cNvPr id="138" name="Shape 29"/>
          <p:cNvSpPr/>
          <p:nvPr/>
        </p:nvSpPr>
        <p:spPr>
          <a:xfrm>
            <a:off x="9784080" y="4114800"/>
            <a:ext cx="1371601" cy="13716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6B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Text 30"/>
          <p:cNvSpPr txBox="1"/>
          <p:nvPr/>
        </p:nvSpPr>
        <p:spPr>
          <a:xfrm>
            <a:off x="9875519" y="4159250"/>
            <a:ext cx="118872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0.12</a:t>
            </a:r>
          </a:p>
        </p:txBody>
      </p:sp>
      <p:sp>
        <p:nvSpPr>
          <p:cNvPr id="140" name="Text 31"/>
          <p:cNvSpPr txBox="1"/>
          <p:nvPr/>
        </p:nvSpPr>
        <p:spPr>
          <a:xfrm>
            <a:off x="9875519" y="4406138"/>
            <a:ext cx="118872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-0.43</a:t>
            </a:r>
          </a:p>
        </p:txBody>
      </p:sp>
      <p:sp>
        <p:nvSpPr>
          <p:cNvPr id="141" name="Text 32"/>
          <p:cNvSpPr txBox="1"/>
          <p:nvPr/>
        </p:nvSpPr>
        <p:spPr>
          <a:xfrm>
            <a:off x="9875519" y="4653026"/>
            <a:ext cx="118872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0.88</a:t>
            </a:r>
          </a:p>
        </p:txBody>
      </p:sp>
      <p:sp>
        <p:nvSpPr>
          <p:cNvPr id="142" name="Text 33"/>
          <p:cNvSpPr txBox="1"/>
          <p:nvPr/>
        </p:nvSpPr>
        <p:spPr>
          <a:xfrm>
            <a:off x="9875519" y="4899914"/>
            <a:ext cx="118872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 ... </a:t>
            </a:r>
          </a:p>
        </p:txBody>
      </p:sp>
      <p:sp>
        <p:nvSpPr>
          <p:cNvPr id="143" name="Text 34"/>
          <p:cNvSpPr txBox="1"/>
          <p:nvPr/>
        </p:nvSpPr>
        <p:spPr>
          <a:xfrm>
            <a:off x="9875519" y="5146801"/>
            <a:ext cx="118872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0.05</a:t>
            </a:r>
          </a:p>
        </p:txBody>
      </p:sp>
      <p:sp>
        <p:nvSpPr>
          <p:cNvPr id="144" name="Text 35"/>
          <p:cNvSpPr txBox="1"/>
          <p:nvPr/>
        </p:nvSpPr>
        <p:spPr>
          <a:xfrm>
            <a:off x="6263640" y="5567680"/>
            <a:ext cx="5212081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1100">
                <a:solidFill>
                  <a:srgbClr val="64748B"/>
                </a:solidFill>
              </a:defRPr>
            </a:lvl1pPr>
          </a:lstStyle>
          <a:p>
            <a:pPr/>
            <a:r>
              <a:t>每个 token → D 维向量 (D 通常 ≥ 512)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0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Text 1"/>
          <p:cNvSpPr txBox="1"/>
          <p:nvPr/>
        </p:nvSpPr>
        <p:spPr>
          <a:xfrm>
            <a:off x="685799" y="382270"/>
            <a:ext cx="1097280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60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第 2 章 · 什么是 Attention (2/2): Q / K / V 三角色</a:t>
            </a:r>
          </a:p>
        </p:txBody>
      </p:sp>
      <p:sp>
        <p:nvSpPr>
          <p:cNvPr id="148" name="Shape 2"/>
          <p:cNvSpPr/>
          <p:nvPr/>
        </p:nvSpPr>
        <p:spPr>
          <a:xfrm>
            <a:off x="457200" y="1188719"/>
            <a:ext cx="3657600" cy="1828801"/>
          </a:xfrm>
          <a:prstGeom prst="rect">
            <a:avLst/>
          </a:prstGeom>
          <a:solidFill>
            <a:srgbClr val="F7F9FC"/>
          </a:solidFill>
          <a:ln w="19050">
            <a:solidFill>
              <a:srgbClr val="FF6B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Shape 3"/>
          <p:cNvSpPr/>
          <p:nvPr/>
        </p:nvSpPr>
        <p:spPr>
          <a:xfrm>
            <a:off x="640080" y="1371600"/>
            <a:ext cx="914401" cy="914400"/>
          </a:xfrm>
          <a:prstGeom prst="ellipse">
            <a:avLst/>
          </a:prstGeom>
          <a:solidFill>
            <a:srgbClr val="FF6B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Text 4"/>
          <p:cNvSpPr txBox="1"/>
          <p:nvPr/>
        </p:nvSpPr>
        <p:spPr>
          <a:xfrm>
            <a:off x="685800" y="1548130"/>
            <a:ext cx="82296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Q</a:t>
            </a:r>
          </a:p>
        </p:txBody>
      </p:sp>
      <p:sp>
        <p:nvSpPr>
          <p:cNvPr id="151" name="Text 5"/>
          <p:cNvSpPr txBox="1"/>
          <p:nvPr/>
        </p:nvSpPr>
        <p:spPr>
          <a:xfrm>
            <a:off x="1737360" y="1391919"/>
            <a:ext cx="228600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FF6B6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Query 提问者</a:t>
            </a:r>
          </a:p>
        </p:txBody>
      </p:sp>
      <p:sp>
        <p:nvSpPr>
          <p:cNvPr id="152" name="Text 6"/>
          <p:cNvSpPr txBox="1"/>
          <p:nvPr/>
        </p:nvSpPr>
        <p:spPr>
          <a:xfrm>
            <a:off x="1737360" y="1783079"/>
            <a:ext cx="22860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A2332"/>
                </a:solidFill>
              </a:defRPr>
            </a:lvl1pPr>
          </a:lstStyle>
          <a:p>
            <a:pPr/>
            <a:r>
              <a:t>当前的提问: 我在找什么?</a:t>
            </a:r>
          </a:p>
        </p:txBody>
      </p:sp>
      <p:sp>
        <p:nvSpPr>
          <p:cNvPr id="153" name="Shape 7"/>
          <p:cNvSpPr/>
          <p:nvPr/>
        </p:nvSpPr>
        <p:spPr>
          <a:xfrm>
            <a:off x="4251959" y="1188719"/>
            <a:ext cx="3657601" cy="1828801"/>
          </a:xfrm>
          <a:prstGeom prst="rect">
            <a:avLst/>
          </a:prstGeom>
          <a:solidFill>
            <a:srgbClr val="F7F9FC"/>
          </a:solidFill>
          <a:ln w="1905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Shape 8"/>
          <p:cNvSpPr/>
          <p:nvPr/>
        </p:nvSpPr>
        <p:spPr>
          <a:xfrm>
            <a:off x="4434840" y="1371600"/>
            <a:ext cx="914401" cy="914400"/>
          </a:xfrm>
          <a:prstGeom prst="ellipse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Text 9"/>
          <p:cNvSpPr txBox="1"/>
          <p:nvPr/>
        </p:nvSpPr>
        <p:spPr>
          <a:xfrm>
            <a:off x="4480560" y="1548130"/>
            <a:ext cx="82296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K</a:t>
            </a:r>
          </a:p>
        </p:txBody>
      </p:sp>
      <p:sp>
        <p:nvSpPr>
          <p:cNvPr id="156" name="Text 10"/>
          <p:cNvSpPr txBox="1"/>
          <p:nvPr/>
        </p:nvSpPr>
        <p:spPr>
          <a:xfrm>
            <a:off x="5532120" y="1391919"/>
            <a:ext cx="228600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Key 钥匙</a:t>
            </a:r>
          </a:p>
        </p:txBody>
      </p:sp>
      <p:sp>
        <p:nvSpPr>
          <p:cNvPr id="157" name="Text 11"/>
          <p:cNvSpPr txBox="1"/>
          <p:nvPr/>
        </p:nvSpPr>
        <p:spPr>
          <a:xfrm>
            <a:off x="5532120" y="1783079"/>
            <a:ext cx="22860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A2332"/>
                </a:solidFill>
              </a:defRPr>
            </a:lvl1pPr>
          </a:lstStyle>
          <a:p>
            <a:pPr/>
            <a:r>
              <a:t>用来跟 Q 算「相关性分数」</a:t>
            </a:r>
          </a:p>
        </p:txBody>
      </p:sp>
      <p:sp>
        <p:nvSpPr>
          <p:cNvPr id="158" name="Shape 12"/>
          <p:cNvSpPr/>
          <p:nvPr/>
        </p:nvSpPr>
        <p:spPr>
          <a:xfrm>
            <a:off x="8046719" y="1188719"/>
            <a:ext cx="3657601" cy="1828801"/>
          </a:xfrm>
          <a:prstGeom prst="rect">
            <a:avLst/>
          </a:prstGeom>
          <a:solidFill>
            <a:srgbClr val="F7F9FC"/>
          </a:solidFill>
          <a:ln w="19050">
            <a:solidFill>
              <a:srgbClr val="FFA94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9" name="Shape 13"/>
          <p:cNvSpPr/>
          <p:nvPr/>
        </p:nvSpPr>
        <p:spPr>
          <a:xfrm>
            <a:off x="8229600" y="1371600"/>
            <a:ext cx="914400" cy="914400"/>
          </a:xfrm>
          <a:prstGeom prst="ellipse">
            <a:avLst/>
          </a:prstGeom>
          <a:solidFill>
            <a:srgbClr val="FFA9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Text 14"/>
          <p:cNvSpPr txBox="1"/>
          <p:nvPr/>
        </p:nvSpPr>
        <p:spPr>
          <a:xfrm>
            <a:off x="8275319" y="1548130"/>
            <a:ext cx="82296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161" name="Text 15"/>
          <p:cNvSpPr txBox="1"/>
          <p:nvPr/>
        </p:nvSpPr>
        <p:spPr>
          <a:xfrm>
            <a:off x="9326879" y="1391919"/>
            <a:ext cx="228600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FFA94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Value 内容</a:t>
            </a:r>
          </a:p>
        </p:txBody>
      </p:sp>
      <p:sp>
        <p:nvSpPr>
          <p:cNvPr id="162" name="Text 16"/>
          <p:cNvSpPr txBox="1"/>
          <p:nvPr/>
        </p:nvSpPr>
        <p:spPr>
          <a:xfrm>
            <a:off x="9326879" y="1783079"/>
            <a:ext cx="22860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A2332"/>
                </a:solidFill>
              </a:defRPr>
            </a:lvl1pPr>
          </a:lstStyle>
          <a:p>
            <a:pPr/>
            <a:r>
              <a:t>真正要被加权累加的内容向量</a:t>
            </a:r>
          </a:p>
        </p:txBody>
      </p:sp>
      <p:sp>
        <p:nvSpPr>
          <p:cNvPr id="163" name="Text 17"/>
          <p:cNvSpPr txBox="1"/>
          <p:nvPr/>
        </p:nvSpPr>
        <p:spPr>
          <a:xfrm>
            <a:off x="594359" y="3243580"/>
            <a:ext cx="10972801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Attention 三步走 (核心公式)</a:t>
            </a:r>
          </a:p>
        </p:txBody>
      </p:sp>
      <p:sp>
        <p:nvSpPr>
          <p:cNvPr id="164" name="Shape 18"/>
          <p:cNvSpPr/>
          <p:nvPr/>
        </p:nvSpPr>
        <p:spPr>
          <a:xfrm>
            <a:off x="1280160" y="3657600"/>
            <a:ext cx="9601201" cy="2377440"/>
          </a:xfrm>
          <a:prstGeom prst="rect">
            <a:avLst/>
          </a:prstGeom>
          <a:solidFill>
            <a:srgbClr val="EEF2F7"/>
          </a:solidFill>
          <a:ln w="6350">
            <a:solidFill>
              <a:srgbClr val="6474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Text 19"/>
          <p:cNvSpPr txBox="1"/>
          <p:nvPr/>
        </p:nvSpPr>
        <p:spPr>
          <a:xfrm>
            <a:off x="1508759" y="4419599"/>
            <a:ext cx="9144001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4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scores  = q @ K.T            </a:t>
            </a:r>
            <a:r>
              <a:rPr i="1">
                <a:solidFill>
                  <a:srgbClr val="64748B"/>
                </a:solidFill>
              </a:rPr>
              <a:t># (N,) 每个历史 token 一个分数</a:t>
            </a:r>
            <a:endParaRPr i="1">
              <a:solidFill>
                <a:srgbClr val="64748B"/>
              </a:solidFill>
            </a:endParaRPr>
          </a:p>
          <a:p>
            <a:pPr>
              <a:defRPr sz="14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weights = softmax(scores)    </a:t>
            </a:r>
            <a:r>
              <a:rPr i="1">
                <a:solidFill>
                  <a:srgbClr val="64748B"/>
                </a:solidFill>
              </a:rPr>
              <a:t># 归一成「和=1 的权重」</a:t>
            </a:r>
            <a:endParaRPr i="1">
              <a:solidFill>
                <a:srgbClr val="64748B"/>
              </a:solidFill>
            </a:endParaRPr>
          </a:p>
          <a:p>
            <a:pPr>
              <a:defRPr sz="14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output  = weights @ V        </a:t>
            </a:r>
            <a:r>
              <a:rPr i="1">
                <a:solidFill>
                  <a:srgbClr val="64748B"/>
                </a:solidFill>
              </a:rPr>
              <a:t># 按权重加权求和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0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Text 1"/>
          <p:cNvSpPr txBox="1"/>
          <p:nvPr/>
        </p:nvSpPr>
        <p:spPr>
          <a:xfrm>
            <a:off x="685799" y="382270"/>
            <a:ext cx="1097280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60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第 2 章 · KV Cache: 为什么要缓存</a:t>
            </a:r>
          </a:p>
        </p:txBody>
      </p:sp>
      <p:sp>
        <p:nvSpPr>
          <p:cNvPr id="169" name="Text 2"/>
          <p:cNvSpPr txBox="1"/>
          <p:nvPr/>
        </p:nvSpPr>
        <p:spPr>
          <a:xfrm>
            <a:off x="594359" y="1221739"/>
            <a:ext cx="1097280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1400">
                <a:solidFill>
                  <a:srgbClr val="1A2332"/>
                </a:solidFill>
              </a:defRPr>
            </a:lvl1pPr>
          </a:lstStyle>
          <a:p>
            <a:pPr/>
            <a:r>
              <a:t>每个历史 token 都会算出自己的 (K, V) 向量。这些数值算完后不会再变, 所以「存下来」复用, 叫 KV Cache。</a:t>
            </a:r>
          </a:p>
        </p:txBody>
      </p:sp>
      <p:sp>
        <p:nvSpPr>
          <p:cNvPr id="170" name="Shape 3"/>
          <p:cNvSpPr/>
          <p:nvPr/>
        </p:nvSpPr>
        <p:spPr>
          <a:xfrm>
            <a:off x="731519" y="1920239"/>
            <a:ext cx="1097281" cy="502920"/>
          </a:xfrm>
          <a:prstGeom prst="rect">
            <a:avLst/>
          </a:prstGeom>
          <a:solidFill>
            <a:srgbClr val="2EC4B6">
              <a:alpha val="30000"/>
            </a:srgbClr>
          </a:solidFill>
          <a:ln w="1270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1" name="Text 4"/>
          <p:cNvSpPr txBox="1"/>
          <p:nvPr/>
        </p:nvSpPr>
        <p:spPr>
          <a:xfrm>
            <a:off x="777239" y="2047546"/>
            <a:ext cx="100584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1A2332"/>
                </a:solidFill>
              </a:defRPr>
            </a:lvl1pPr>
          </a:lstStyle>
          <a:p>
            <a:pPr/>
            <a:r>
              <a:t>tok 1</a:t>
            </a:r>
          </a:p>
        </p:txBody>
      </p:sp>
      <p:sp>
        <p:nvSpPr>
          <p:cNvPr id="172" name="Shape 5"/>
          <p:cNvSpPr/>
          <p:nvPr/>
        </p:nvSpPr>
        <p:spPr>
          <a:xfrm>
            <a:off x="1280160" y="2468879"/>
            <a:ext cx="1" cy="411481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Shape 6"/>
          <p:cNvSpPr/>
          <p:nvPr/>
        </p:nvSpPr>
        <p:spPr>
          <a:xfrm>
            <a:off x="731519" y="2926079"/>
            <a:ext cx="1097281" cy="640081"/>
          </a:xfrm>
          <a:prstGeom prst="rect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Text 7"/>
          <p:cNvSpPr txBox="1"/>
          <p:nvPr/>
        </p:nvSpPr>
        <p:spPr>
          <a:xfrm>
            <a:off x="777239" y="3117849"/>
            <a:ext cx="100584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(K1, V1)</a:t>
            </a:r>
          </a:p>
        </p:txBody>
      </p:sp>
      <p:sp>
        <p:nvSpPr>
          <p:cNvPr id="175" name="Shape 8"/>
          <p:cNvSpPr/>
          <p:nvPr/>
        </p:nvSpPr>
        <p:spPr>
          <a:xfrm>
            <a:off x="2103120" y="1920239"/>
            <a:ext cx="1097281" cy="502920"/>
          </a:xfrm>
          <a:prstGeom prst="rect">
            <a:avLst/>
          </a:prstGeom>
          <a:solidFill>
            <a:srgbClr val="2EC4B6">
              <a:alpha val="30000"/>
            </a:srgbClr>
          </a:solidFill>
          <a:ln w="1270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Text 9"/>
          <p:cNvSpPr txBox="1"/>
          <p:nvPr/>
        </p:nvSpPr>
        <p:spPr>
          <a:xfrm>
            <a:off x="2148840" y="2047546"/>
            <a:ext cx="10058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1A2332"/>
                </a:solidFill>
              </a:defRPr>
            </a:lvl1pPr>
          </a:lstStyle>
          <a:p>
            <a:pPr/>
            <a:r>
              <a:t>tok 2</a:t>
            </a:r>
          </a:p>
        </p:txBody>
      </p:sp>
      <p:sp>
        <p:nvSpPr>
          <p:cNvPr id="177" name="Shape 10"/>
          <p:cNvSpPr/>
          <p:nvPr/>
        </p:nvSpPr>
        <p:spPr>
          <a:xfrm>
            <a:off x="2651760" y="2468879"/>
            <a:ext cx="1" cy="411481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Shape 11"/>
          <p:cNvSpPr/>
          <p:nvPr/>
        </p:nvSpPr>
        <p:spPr>
          <a:xfrm>
            <a:off x="2103120" y="2926079"/>
            <a:ext cx="1097281" cy="640081"/>
          </a:xfrm>
          <a:prstGeom prst="rect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9" name="Text 12"/>
          <p:cNvSpPr txBox="1"/>
          <p:nvPr/>
        </p:nvSpPr>
        <p:spPr>
          <a:xfrm>
            <a:off x="2148840" y="3117849"/>
            <a:ext cx="100584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(K2, V2)</a:t>
            </a:r>
          </a:p>
        </p:txBody>
      </p:sp>
      <p:sp>
        <p:nvSpPr>
          <p:cNvPr id="180" name="Shape 13"/>
          <p:cNvSpPr/>
          <p:nvPr/>
        </p:nvSpPr>
        <p:spPr>
          <a:xfrm>
            <a:off x="3474720" y="1920239"/>
            <a:ext cx="1097281" cy="502920"/>
          </a:xfrm>
          <a:prstGeom prst="rect">
            <a:avLst/>
          </a:prstGeom>
          <a:solidFill>
            <a:srgbClr val="2EC4B6">
              <a:alpha val="30000"/>
            </a:srgbClr>
          </a:solidFill>
          <a:ln w="1270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1" name="Text 14"/>
          <p:cNvSpPr txBox="1"/>
          <p:nvPr/>
        </p:nvSpPr>
        <p:spPr>
          <a:xfrm>
            <a:off x="3520440" y="2047546"/>
            <a:ext cx="10058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1A2332"/>
                </a:solidFill>
              </a:defRPr>
            </a:lvl1pPr>
          </a:lstStyle>
          <a:p>
            <a:pPr/>
            <a:r>
              <a:t>tok 3</a:t>
            </a:r>
          </a:p>
        </p:txBody>
      </p:sp>
      <p:sp>
        <p:nvSpPr>
          <p:cNvPr id="182" name="Shape 15"/>
          <p:cNvSpPr/>
          <p:nvPr/>
        </p:nvSpPr>
        <p:spPr>
          <a:xfrm>
            <a:off x="4023359" y="2468879"/>
            <a:ext cx="1" cy="411481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83" name="Shape 16"/>
          <p:cNvSpPr/>
          <p:nvPr/>
        </p:nvSpPr>
        <p:spPr>
          <a:xfrm>
            <a:off x="3474720" y="2926079"/>
            <a:ext cx="1097281" cy="640081"/>
          </a:xfrm>
          <a:prstGeom prst="rect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4" name="Text 17"/>
          <p:cNvSpPr txBox="1"/>
          <p:nvPr/>
        </p:nvSpPr>
        <p:spPr>
          <a:xfrm>
            <a:off x="3520440" y="3117849"/>
            <a:ext cx="100584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(K3, V3)</a:t>
            </a:r>
          </a:p>
        </p:txBody>
      </p:sp>
      <p:sp>
        <p:nvSpPr>
          <p:cNvPr id="185" name="Shape 18"/>
          <p:cNvSpPr/>
          <p:nvPr/>
        </p:nvSpPr>
        <p:spPr>
          <a:xfrm>
            <a:off x="4846320" y="1920239"/>
            <a:ext cx="1097281" cy="502920"/>
          </a:xfrm>
          <a:prstGeom prst="rect">
            <a:avLst/>
          </a:prstGeom>
          <a:solidFill>
            <a:srgbClr val="2EC4B6">
              <a:alpha val="30000"/>
            </a:srgbClr>
          </a:solidFill>
          <a:ln w="1270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Text 19"/>
          <p:cNvSpPr txBox="1"/>
          <p:nvPr/>
        </p:nvSpPr>
        <p:spPr>
          <a:xfrm>
            <a:off x="4892040" y="2047546"/>
            <a:ext cx="10058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1A2332"/>
                </a:solidFill>
              </a:defRPr>
            </a:lvl1pPr>
          </a:lstStyle>
          <a:p>
            <a:pPr/>
            <a:r>
              <a:t>tok 4</a:t>
            </a:r>
          </a:p>
        </p:txBody>
      </p:sp>
      <p:sp>
        <p:nvSpPr>
          <p:cNvPr id="187" name="Shape 20"/>
          <p:cNvSpPr/>
          <p:nvPr/>
        </p:nvSpPr>
        <p:spPr>
          <a:xfrm>
            <a:off x="5394959" y="2468879"/>
            <a:ext cx="1" cy="411481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88" name="Shape 21"/>
          <p:cNvSpPr/>
          <p:nvPr/>
        </p:nvSpPr>
        <p:spPr>
          <a:xfrm>
            <a:off x="4846320" y="2926079"/>
            <a:ext cx="1097281" cy="640081"/>
          </a:xfrm>
          <a:prstGeom prst="rect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9" name="Text 22"/>
          <p:cNvSpPr txBox="1"/>
          <p:nvPr/>
        </p:nvSpPr>
        <p:spPr>
          <a:xfrm>
            <a:off x="4892040" y="3117849"/>
            <a:ext cx="100584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(K4, V4)</a:t>
            </a:r>
          </a:p>
        </p:txBody>
      </p:sp>
      <p:sp>
        <p:nvSpPr>
          <p:cNvPr id="190" name="Shape 23"/>
          <p:cNvSpPr/>
          <p:nvPr/>
        </p:nvSpPr>
        <p:spPr>
          <a:xfrm>
            <a:off x="6217920" y="1920239"/>
            <a:ext cx="1097281" cy="502920"/>
          </a:xfrm>
          <a:prstGeom prst="rect">
            <a:avLst/>
          </a:prstGeom>
          <a:solidFill>
            <a:srgbClr val="2EC4B6">
              <a:alpha val="30000"/>
            </a:srgbClr>
          </a:solidFill>
          <a:ln w="1270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Text 24"/>
          <p:cNvSpPr txBox="1"/>
          <p:nvPr/>
        </p:nvSpPr>
        <p:spPr>
          <a:xfrm>
            <a:off x="6263640" y="2047546"/>
            <a:ext cx="10058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1A2332"/>
                </a:solidFill>
              </a:defRPr>
            </a:lvl1pPr>
          </a:lstStyle>
          <a:p>
            <a:pPr/>
            <a:r>
              <a:t>tok 5</a:t>
            </a:r>
          </a:p>
        </p:txBody>
      </p:sp>
      <p:sp>
        <p:nvSpPr>
          <p:cNvPr id="192" name="Shape 25"/>
          <p:cNvSpPr/>
          <p:nvPr/>
        </p:nvSpPr>
        <p:spPr>
          <a:xfrm>
            <a:off x="6766559" y="2468879"/>
            <a:ext cx="1" cy="411481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93" name="Shape 26"/>
          <p:cNvSpPr/>
          <p:nvPr/>
        </p:nvSpPr>
        <p:spPr>
          <a:xfrm>
            <a:off x="6217920" y="2926079"/>
            <a:ext cx="1097281" cy="640081"/>
          </a:xfrm>
          <a:prstGeom prst="rect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4" name="Text 27"/>
          <p:cNvSpPr txBox="1"/>
          <p:nvPr/>
        </p:nvSpPr>
        <p:spPr>
          <a:xfrm>
            <a:off x="6263640" y="3117849"/>
            <a:ext cx="100584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(K5, V5)</a:t>
            </a:r>
          </a:p>
        </p:txBody>
      </p:sp>
      <p:sp>
        <p:nvSpPr>
          <p:cNvPr id="195" name="Shape 28"/>
          <p:cNvSpPr/>
          <p:nvPr/>
        </p:nvSpPr>
        <p:spPr>
          <a:xfrm>
            <a:off x="7589519" y="1920239"/>
            <a:ext cx="1097281" cy="502920"/>
          </a:xfrm>
          <a:prstGeom prst="rect">
            <a:avLst/>
          </a:prstGeom>
          <a:solidFill>
            <a:srgbClr val="2EC4B6">
              <a:alpha val="30000"/>
            </a:srgbClr>
          </a:solidFill>
          <a:ln w="1270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Text 29"/>
          <p:cNvSpPr txBox="1"/>
          <p:nvPr/>
        </p:nvSpPr>
        <p:spPr>
          <a:xfrm>
            <a:off x="7635239" y="2047546"/>
            <a:ext cx="10058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1A2332"/>
                </a:solidFill>
              </a:defRPr>
            </a:lvl1pPr>
          </a:lstStyle>
          <a:p>
            <a:pPr/>
            <a:r>
              <a:t>tok N</a:t>
            </a:r>
          </a:p>
        </p:txBody>
      </p:sp>
      <p:sp>
        <p:nvSpPr>
          <p:cNvPr id="197" name="Shape 30"/>
          <p:cNvSpPr/>
          <p:nvPr/>
        </p:nvSpPr>
        <p:spPr>
          <a:xfrm>
            <a:off x="8138159" y="2468879"/>
            <a:ext cx="1" cy="411481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98" name="Shape 31"/>
          <p:cNvSpPr/>
          <p:nvPr/>
        </p:nvSpPr>
        <p:spPr>
          <a:xfrm>
            <a:off x="7589519" y="2926079"/>
            <a:ext cx="1097281" cy="640081"/>
          </a:xfrm>
          <a:prstGeom prst="rect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Text 32"/>
          <p:cNvSpPr txBox="1"/>
          <p:nvPr/>
        </p:nvSpPr>
        <p:spPr>
          <a:xfrm>
            <a:off x="7635239" y="3117849"/>
            <a:ext cx="100584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(K6, V6)</a:t>
            </a:r>
          </a:p>
        </p:txBody>
      </p:sp>
      <p:sp>
        <p:nvSpPr>
          <p:cNvPr id="200" name="Shape 33"/>
          <p:cNvSpPr/>
          <p:nvPr/>
        </p:nvSpPr>
        <p:spPr>
          <a:xfrm>
            <a:off x="548640" y="3840479"/>
            <a:ext cx="8961120" cy="1188721"/>
          </a:xfrm>
          <a:prstGeom prst="rect">
            <a:avLst/>
          </a:prstGeom>
          <a:solidFill>
            <a:srgbClr val="F7F9FC"/>
          </a:solidFill>
          <a:ln w="25400">
            <a:solidFill>
              <a:srgbClr val="1E3A5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Text 34"/>
          <p:cNvSpPr txBox="1"/>
          <p:nvPr/>
        </p:nvSpPr>
        <p:spPr>
          <a:xfrm>
            <a:off x="594360" y="3896359"/>
            <a:ext cx="886968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KV Cache (缓存数组)</a:t>
            </a:r>
          </a:p>
        </p:txBody>
      </p:sp>
      <p:sp>
        <p:nvSpPr>
          <p:cNvPr id="202" name="Text 35"/>
          <p:cNvSpPr txBox="1"/>
          <p:nvPr/>
        </p:nvSpPr>
        <p:spPr>
          <a:xfrm>
            <a:off x="594360" y="4464050"/>
            <a:ext cx="886968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[ (K1,V1) | (K2,V2) | (K3,V3) | ... | (KN,VN) ]</a:t>
            </a:r>
          </a:p>
        </p:txBody>
      </p:sp>
      <p:sp>
        <p:nvSpPr>
          <p:cNvPr id="203" name="Shape 36"/>
          <p:cNvSpPr/>
          <p:nvPr/>
        </p:nvSpPr>
        <p:spPr>
          <a:xfrm>
            <a:off x="9784080" y="3840479"/>
            <a:ext cx="1828801" cy="1188721"/>
          </a:xfrm>
          <a:prstGeom prst="rect">
            <a:avLst/>
          </a:prstGeom>
          <a:solidFill>
            <a:srgbClr val="FFA94D">
              <a:alpha val="40000"/>
            </a:srgbClr>
          </a:solidFill>
          <a:ln w="19050">
            <a:solidFill>
              <a:srgbClr val="FFA94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Text 37"/>
          <p:cNvSpPr txBox="1"/>
          <p:nvPr/>
        </p:nvSpPr>
        <p:spPr>
          <a:xfrm>
            <a:off x="9829800" y="4173219"/>
            <a:ext cx="173736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300">
                <a:solidFill>
                  <a:srgbClr val="1A2332"/>
                </a:solidFill>
              </a:defRPr>
            </a:pPr>
            <a:r>
              <a:t>新 token</a:t>
            </a:r>
          </a:p>
          <a:p>
            <a:pPr algn="ctr">
              <a:defRPr b="1" sz="1300">
                <a:solidFill>
                  <a:srgbClr val="1A2332"/>
                </a:solidFill>
              </a:defRPr>
            </a:pPr>
            <a:r>
              <a:t>q_new</a:t>
            </a:r>
          </a:p>
        </p:txBody>
      </p:sp>
      <p:sp>
        <p:nvSpPr>
          <p:cNvPr id="205" name="Shape 38"/>
          <p:cNvSpPr/>
          <p:nvPr/>
        </p:nvSpPr>
        <p:spPr>
          <a:xfrm>
            <a:off x="9509760" y="4434840"/>
            <a:ext cx="274321" cy="1"/>
          </a:xfrm>
          <a:prstGeom prst="line">
            <a:avLst/>
          </a:prstGeom>
          <a:ln w="25400">
            <a:solidFill>
              <a:srgbClr val="FFA94D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Shape 39"/>
          <p:cNvSpPr/>
          <p:nvPr/>
        </p:nvSpPr>
        <p:spPr>
          <a:xfrm>
            <a:off x="548639" y="5349240"/>
            <a:ext cx="11064242" cy="914401"/>
          </a:xfrm>
          <a:prstGeom prst="rect">
            <a:avLst/>
          </a:prstGeom>
          <a:solidFill>
            <a:srgbClr val="1E3A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7" name="Text 40"/>
          <p:cNvSpPr txBox="1"/>
          <p:nvPr/>
        </p:nvSpPr>
        <p:spPr>
          <a:xfrm>
            <a:off x="685800" y="5633720"/>
            <a:ext cx="1078992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结论: K, V 算一次就缓存, 新 token 来时只算自己的 q, 然后跟整个 KV Cache 做 attention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0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0" name="Text 1"/>
          <p:cNvSpPr txBox="1"/>
          <p:nvPr/>
        </p:nvSpPr>
        <p:spPr>
          <a:xfrm>
            <a:off x="685799" y="382270"/>
            <a:ext cx="1097280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60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第 2 章 · 长上下文的两个痛点</a:t>
            </a:r>
          </a:p>
        </p:txBody>
      </p:sp>
      <p:sp>
        <p:nvSpPr>
          <p:cNvPr id="211" name="Shape 2"/>
          <p:cNvSpPr/>
          <p:nvPr/>
        </p:nvSpPr>
        <p:spPr>
          <a:xfrm>
            <a:off x="640079" y="1280160"/>
            <a:ext cx="5349242" cy="3657601"/>
          </a:xfrm>
          <a:prstGeom prst="rect">
            <a:avLst/>
          </a:prstGeom>
          <a:solidFill>
            <a:srgbClr val="FF6B6B">
              <a:alpha val="15000"/>
            </a:srgbClr>
          </a:solidFill>
          <a:ln w="25400">
            <a:solidFill>
              <a:srgbClr val="FF6B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2" name="Shape 3"/>
          <p:cNvSpPr/>
          <p:nvPr/>
        </p:nvSpPr>
        <p:spPr>
          <a:xfrm>
            <a:off x="640079" y="1280160"/>
            <a:ext cx="5349242" cy="731521"/>
          </a:xfrm>
          <a:prstGeom prst="rect">
            <a:avLst/>
          </a:prstGeom>
          <a:solidFill>
            <a:srgbClr val="FF6B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3" name="Text 4"/>
          <p:cNvSpPr txBox="1"/>
          <p:nvPr/>
        </p:nvSpPr>
        <p:spPr>
          <a:xfrm>
            <a:off x="685799" y="1441450"/>
            <a:ext cx="525780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痛点 1: KV Cache 放不下</a:t>
            </a:r>
          </a:p>
        </p:txBody>
      </p:sp>
      <p:sp>
        <p:nvSpPr>
          <p:cNvPr id="214" name="Text 5"/>
          <p:cNvSpPr txBox="1"/>
          <p:nvPr/>
        </p:nvSpPr>
        <p:spPr>
          <a:xfrm>
            <a:off x="914399" y="2194560"/>
            <a:ext cx="4846321" cy="15751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400">
                <a:solidFill>
                  <a:srgbClr val="1A2332"/>
                </a:solidFill>
              </a:defRPr>
            </a:pPr>
            <a:r>
              <a:t>100 万 token × 每个 KV 占几 KB</a:t>
            </a:r>
          </a:p>
          <a:p>
            <a:pPr>
              <a:defRPr b="1" sz="1400">
                <a:solidFill>
                  <a:srgbClr val="1A2332"/>
                </a:solidFill>
              </a:defRPr>
            </a:pPr>
          </a:p>
          <a:p>
            <a:pPr>
              <a:defRPr b="1" sz="1400">
                <a:solidFill>
                  <a:srgbClr val="1A2332"/>
                </a:solidFill>
              </a:defRPr>
            </a:pPr>
            <a:r>
              <a:rPr b="0" sz="1300"/>
              <a:t>= 占用大量显存 / 内存,</a:t>
            </a:r>
            <a:endParaRPr b="0" sz="1300"/>
          </a:p>
          <a:p>
            <a:pPr>
              <a:defRPr b="1" sz="1400">
                <a:solidFill>
                  <a:srgbClr val="1A2332"/>
                </a:solidFill>
              </a:defRPr>
            </a:pPr>
            <a:r>
              <a:rPr b="0" sz="1300"/>
              <a:t>  普通卡放不下整个 cache。</a:t>
            </a:r>
            <a:endParaRPr b="0" sz="1300"/>
          </a:p>
          <a:p>
            <a:pPr>
              <a:defRPr b="1" sz="1400">
                <a:solidFill>
                  <a:srgbClr val="1A2332"/>
                </a:solidFill>
              </a:defRPr>
            </a:pPr>
            <a:endParaRPr b="0" sz="1300"/>
          </a:p>
          <a:p>
            <a:pPr>
              <a:defRPr b="1" sz="1400">
                <a:solidFill>
                  <a:srgbClr val="1A2332"/>
                </a:solidFill>
              </a:defRPr>
            </a:pPr>
            <a:r>
              <a:rPr i="1" sz="1300">
                <a:solidFill>
                  <a:srgbClr val="FF6B6B"/>
                </a:solidFill>
              </a:rPr>
              <a:t>→ 这是「内存」问题</a:t>
            </a:r>
          </a:p>
        </p:txBody>
      </p:sp>
      <p:sp>
        <p:nvSpPr>
          <p:cNvPr id="215" name="Shape 6"/>
          <p:cNvSpPr/>
          <p:nvPr/>
        </p:nvSpPr>
        <p:spPr>
          <a:xfrm>
            <a:off x="6172200" y="1280160"/>
            <a:ext cx="5349241" cy="3657601"/>
          </a:xfrm>
          <a:prstGeom prst="rect">
            <a:avLst/>
          </a:prstGeom>
          <a:solidFill>
            <a:srgbClr val="FFA94D">
              <a:alpha val="15000"/>
            </a:srgbClr>
          </a:solidFill>
          <a:ln w="25400">
            <a:solidFill>
              <a:srgbClr val="FFA94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Shape 7"/>
          <p:cNvSpPr/>
          <p:nvPr/>
        </p:nvSpPr>
        <p:spPr>
          <a:xfrm>
            <a:off x="6172200" y="1280160"/>
            <a:ext cx="5349241" cy="731521"/>
          </a:xfrm>
          <a:prstGeom prst="rect">
            <a:avLst/>
          </a:prstGeom>
          <a:solidFill>
            <a:srgbClr val="FFA9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Text 8"/>
          <p:cNvSpPr txBox="1"/>
          <p:nvPr/>
        </p:nvSpPr>
        <p:spPr>
          <a:xfrm>
            <a:off x="6217920" y="1441450"/>
            <a:ext cx="525780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痛点 2: 算 attention 太慢</a:t>
            </a:r>
          </a:p>
        </p:txBody>
      </p:sp>
      <p:sp>
        <p:nvSpPr>
          <p:cNvPr id="218" name="Text 9"/>
          <p:cNvSpPr txBox="1"/>
          <p:nvPr/>
        </p:nvSpPr>
        <p:spPr>
          <a:xfrm>
            <a:off x="6446519" y="2194560"/>
            <a:ext cx="4846321" cy="1549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400">
                <a:solidFill>
                  <a:srgbClr val="1A2332"/>
                </a:solidFill>
              </a:defRPr>
            </a:pPr>
            <a:r>
              <a:t>每生成 1 个新字</a:t>
            </a:r>
          </a:p>
          <a:p>
            <a:pPr>
              <a:defRPr b="1" sz="1400">
                <a:solidFill>
                  <a:srgbClr val="1A2332"/>
                </a:solidFill>
              </a:defRPr>
            </a:pPr>
            <a:r>
              <a:rPr b="0" sz="1300"/>
              <a:t>→ 都要扫全部 100 万历史 token</a:t>
            </a:r>
            <a:endParaRPr b="0" sz="1300"/>
          </a:p>
          <a:p>
            <a:pPr>
              <a:defRPr b="1" sz="1400">
                <a:solidFill>
                  <a:srgbClr val="1A2332"/>
                </a:solidFill>
              </a:defRPr>
            </a:pPr>
            <a:endParaRPr b="0" sz="1300"/>
          </a:p>
          <a:p>
            <a:pPr>
              <a:defRPr b="1" sz="1400">
                <a:solidFill>
                  <a:srgbClr val="1A2332"/>
                </a:solidFill>
              </a:defRPr>
            </a:pPr>
            <a:r>
              <a:rPr b="0" sz="1300"/>
              <a:t>速度极慢, 用户等不及。</a:t>
            </a:r>
            <a:endParaRPr b="0" sz="1300"/>
          </a:p>
          <a:p>
            <a:pPr>
              <a:defRPr b="1" sz="1400">
                <a:solidFill>
                  <a:srgbClr val="1A2332"/>
                </a:solidFill>
              </a:defRPr>
            </a:pPr>
            <a:endParaRPr b="0" sz="1300"/>
          </a:p>
          <a:p>
            <a:pPr>
              <a:defRPr b="1" sz="1400">
                <a:solidFill>
                  <a:srgbClr val="1A2332"/>
                </a:solidFill>
              </a:defRPr>
            </a:pPr>
            <a:r>
              <a:rPr i="1" sz="1300">
                <a:solidFill>
                  <a:srgbClr val="FFA94D"/>
                </a:solidFill>
              </a:rPr>
              <a:t>→ 这是「计算」问题</a:t>
            </a:r>
          </a:p>
        </p:txBody>
      </p:sp>
      <p:sp>
        <p:nvSpPr>
          <p:cNvPr id="219" name="Shape 10"/>
          <p:cNvSpPr/>
          <p:nvPr/>
        </p:nvSpPr>
        <p:spPr>
          <a:xfrm>
            <a:off x="640080" y="5212079"/>
            <a:ext cx="10881360" cy="1005840"/>
          </a:xfrm>
          <a:prstGeom prst="rect">
            <a:avLst/>
          </a:prstGeom>
          <a:solidFill>
            <a:srgbClr val="1E3A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0" name="Shape 11"/>
          <p:cNvSpPr/>
          <p:nvPr/>
        </p:nvSpPr>
        <p:spPr>
          <a:xfrm>
            <a:off x="640080" y="5212079"/>
            <a:ext cx="137161" cy="1005840"/>
          </a:xfrm>
          <a:prstGeom prst="rect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1" name="Text 12"/>
          <p:cNvSpPr txBox="1"/>
          <p:nvPr/>
        </p:nvSpPr>
        <p:spPr>
          <a:xfrm>
            <a:off x="1005840" y="5529579"/>
            <a:ext cx="1033272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本算子专门解决「痛点 2」: 通过「稀疏」选取, 把「扫 100 万」缩减到「扫几百」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0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4" name="Text 1"/>
          <p:cNvSpPr txBox="1"/>
          <p:nvPr/>
        </p:nvSpPr>
        <p:spPr>
          <a:xfrm>
            <a:off x="685799" y="382270"/>
            <a:ext cx="1097280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60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第 3 章 · 策略一: Sliding Window Attention (SWA)</a:t>
            </a:r>
          </a:p>
        </p:txBody>
      </p:sp>
      <p:sp>
        <p:nvSpPr>
          <p:cNvPr id="225" name="Shape 2"/>
          <p:cNvSpPr/>
          <p:nvPr/>
        </p:nvSpPr>
        <p:spPr>
          <a:xfrm>
            <a:off x="457199" y="1188719"/>
            <a:ext cx="4389122" cy="3840481"/>
          </a:xfrm>
          <a:prstGeom prst="rect">
            <a:avLst/>
          </a:prstGeom>
          <a:solidFill>
            <a:srgbClr val="F7F9FC"/>
          </a:solidFill>
          <a:ln w="1270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6" name="Text 3"/>
          <p:cNvSpPr txBox="1"/>
          <p:nvPr/>
        </p:nvSpPr>
        <p:spPr>
          <a:xfrm>
            <a:off x="685800" y="1369060"/>
            <a:ext cx="40233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直觉: 近的最重要</a:t>
            </a:r>
          </a:p>
        </p:txBody>
      </p:sp>
      <p:sp>
        <p:nvSpPr>
          <p:cNvPr id="227" name="Text 4"/>
          <p:cNvSpPr txBox="1"/>
          <p:nvPr/>
        </p:nvSpPr>
        <p:spPr>
          <a:xfrm>
            <a:off x="685800" y="1828800"/>
            <a:ext cx="4023360" cy="1521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1A2332"/>
                </a:solidFill>
              </a:defRPr>
            </a:pPr>
            <a:r>
              <a:t>当前 token 跟</a:t>
            </a:r>
            <a:r>
              <a:rPr b="1">
                <a:solidFill>
                  <a:srgbClr val="FF6B6B"/>
                </a:solidFill>
              </a:rPr>
              <a:t>「最近的 W 个」</a:t>
            </a:r>
            <a:r>
              <a:t>K/V 最密切相关。</a:t>
            </a:r>
          </a:p>
          <a:p>
            <a:pPr>
              <a:defRPr sz="1300">
                <a:solidFill>
                  <a:srgbClr val="1A2332"/>
                </a:solidFill>
              </a:defRPr>
            </a:pPr>
          </a:p>
          <a:p>
            <a:pPr>
              <a:defRPr sz="1300">
                <a:solidFill>
                  <a:srgbClr val="1A2332"/>
                </a:solidFill>
              </a:defRPr>
            </a:pPr>
            <a:r>
              <a:t>远处的 K/V 信息, 认为不重要, 直接「不算」。</a:t>
            </a:r>
          </a:p>
          <a:p>
            <a:pPr>
              <a:defRPr sz="1300">
                <a:solidFill>
                  <a:srgbClr val="1A2332"/>
                </a:solidFill>
              </a:defRPr>
            </a:pPr>
          </a:p>
          <a:p>
            <a:pPr>
              <a:defRPr sz="1300">
                <a:solidFill>
                  <a:srgbClr val="1A2332"/>
                </a:solidFill>
              </a:defRPr>
            </a:pPr>
            <a:r>
              <a:rPr i="1">
                <a:solidFill>
                  <a:srgbClr val="2EC4B6"/>
                </a:solidFill>
              </a:rPr>
              <a:t>→ 「滑动窗口」: 窗口大小 W, 跟着当前位置一起向右滑。</a:t>
            </a:r>
          </a:p>
        </p:txBody>
      </p:sp>
      <p:sp>
        <p:nvSpPr>
          <p:cNvPr id="228" name="Text 5"/>
          <p:cNvSpPr txBox="1"/>
          <p:nvPr/>
        </p:nvSpPr>
        <p:spPr>
          <a:xfrm>
            <a:off x="5074920" y="1244599"/>
            <a:ext cx="6583679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窗口可见示意 (W=3)</a:t>
            </a:r>
          </a:p>
        </p:txBody>
      </p:sp>
      <p:sp>
        <p:nvSpPr>
          <p:cNvPr id="229" name="Shape 6"/>
          <p:cNvSpPr/>
          <p:nvPr/>
        </p:nvSpPr>
        <p:spPr>
          <a:xfrm>
            <a:off x="5120640" y="1828800"/>
            <a:ext cx="713233" cy="713232"/>
          </a:xfrm>
          <a:prstGeom prst="rect">
            <a:avLst/>
          </a:prstGeom>
          <a:solidFill>
            <a:srgbClr val="F7F9FC"/>
          </a:solidFill>
          <a:ln w="15240">
            <a:solidFill>
              <a:srgbClr val="6474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0" name="Text 7"/>
          <p:cNvSpPr txBox="1"/>
          <p:nvPr/>
        </p:nvSpPr>
        <p:spPr>
          <a:xfrm>
            <a:off x="5166360" y="2061263"/>
            <a:ext cx="62179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64748B"/>
                </a:solid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31" name="Shape 8"/>
          <p:cNvSpPr/>
          <p:nvPr/>
        </p:nvSpPr>
        <p:spPr>
          <a:xfrm>
            <a:off x="5925311" y="1828800"/>
            <a:ext cx="713233" cy="713232"/>
          </a:xfrm>
          <a:prstGeom prst="rect">
            <a:avLst/>
          </a:prstGeom>
          <a:solidFill>
            <a:srgbClr val="F7F9FC"/>
          </a:solidFill>
          <a:ln w="15240">
            <a:solidFill>
              <a:srgbClr val="6474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Text 9"/>
          <p:cNvSpPr txBox="1"/>
          <p:nvPr/>
        </p:nvSpPr>
        <p:spPr>
          <a:xfrm>
            <a:off x="5971032" y="2061263"/>
            <a:ext cx="62179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64748B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3" name="Shape 10"/>
          <p:cNvSpPr/>
          <p:nvPr/>
        </p:nvSpPr>
        <p:spPr>
          <a:xfrm>
            <a:off x="6729983" y="1828800"/>
            <a:ext cx="713233" cy="713232"/>
          </a:xfrm>
          <a:prstGeom prst="rect">
            <a:avLst/>
          </a:prstGeom>
          <a:solidFill>
            <a:srgbClr val="F7F9FC"/>
          </a:solidFill>
          <a:ln w="15240">
            <a:solidFill>
              <a:srgbClr val="6474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4" name="Text 11"/>
          <p:cNvSpPr txBox="1"/>
          <p:nvPr/>
        </p:nvSpPr>
        <p:spPr>
          <a:xfrm>
            <a:off x="6775703" y="2061263"/>
            <a:ext cx="62179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64748B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35" name="Shape 12"/>
          <p:cNvSpPr/>
          <p:nvPr/>
        </p:nvSpPr>
        <p:spPr>
          <a:xfrm>
            <a:off x="7534656" y="1828800"/>
            <a:ext cx="713233" cy="713232"/>
          </a:xfrm>
          <a:prstGeom prst="rect">
            <a:avLst/>
          </a:prstGeom>
          <a:solidFill>
            <a:srgbClr val="F7F9FC"/>
          </a:solidFill>
          <a:ln w="15240">
            <a:solidFill>
              <a:srgbClr val="6474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6" name="Text 13"/>
          <p:cNvSpPr txBox="1"/>
          <p:nvPr/>
        </p:nvSpPr>
        <p:spPr>
          <a:xfrm>
            <a:off x="7580376" y="2061263"/>
            <a:ext cx="62179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64748B"/>
                </a:solidFill>
              </a:defRPr>
            </a:lvl1pPr>
          </a:lstStyle>
          <a:p>
            <a:pPr/>
            <a:r>
              <a:t>...</a:t>
            </a:r>
          </a:p>
        </p:txBody>
      </p:sp>
      <p:sp>
        <p:nvSpPr>
          <p:cNvPr id="237" name="Shape 14"/>
          <p:cNvSpPr/>
          <p:nvPr/>
        </p:nvSpPr>
        <p:spPr>
          <a:xfrm>
            <a:off x="8339328" y="1828800"/>
            <a:ext cx="713233" cy="713232"/>
          </a:xfrm>
          <a:prstGeom prst="rect">
            <a:avLst/>
          </a:prstGeom>
          <a:solidFill>
            <a:srgbClr val="F7F9FC"/>
          </a:solidFill>
          <a:ln w="15240">
            <a:solidFill>
              <a:srgbClr val="6474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8" name="Text 15"/>
          <p:cNvSpPr txBox="1"/>
          <p:nvPr/>
        </p:nvSpPr>
        <p:spPr>
          <a:xfrm>
            <a:off x="8385047" y="2061263"/>
            <a:ext cx="62179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64748B"/>
                </a:solidFill>
              </a:defRPr>
            </a:lvl1pPr>
          </a:lstStyle>
          <a:p>
            <a:pPr/>
            <a:r>
              <a:t>996</a:t>
            </a:r>
          </a:p>
        </p:txBody>
      </p:sp>
      <p:sp>
        <p:nvSpPr>
          <p:cNvPr id="239" name="Shape 16"/>
          <p:cNvSpPr/>
          <p:nvPr/>
        </p:nvSpPr>
        <p:spPr>
          <a:xfrm>
            <a:off x="9144000" y="1828800"/>
            <a:ext cx="713232" cy="713232"/>
          </a:xfrm>
          <a:prstGeom prst="rect">
            <a:avLst/>
          </a:prstGeom>
          <a:solidFill>
            <a:srgbClr val="2EC4B6">
              <a:alpha val="70000"/>
            </a:srgbClr>
          </a:solidFill>
          <a:ln w="1524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0" name="Text 17"/>
          <p:cNvSpPr txBox="1"/>
          <p:nvPr/>
        </p:nvSpPr>
        <p:spPr>
          <a:xfrm>
            <a:off x="9189719" y="2061263"/>
            <a:ext cx="62179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997</a:t>
            </a:r>
          </a:p>
        </p:txBody>
      </p:sp>
      <p:sp>
        <p:nvSpPr>
          <p:cNvPr id="241" name="Shape 18"/>
          <p:cNvSpPr/>
          <p:nvPr/>
        </p:nvSpPr>
        <p:spPr>
          <a:xfrm>
            <a:off x="9948671" y="1828800"/>
            <a:ext cx="713233" cy="713232"/>
          </a:xfrm>
          <a:prstGeom prst="rect">
            <a:avLst/>
          </a:prstGeom>
          <a:solidFill>
            <a:srgbClr val="2EC4B6">
              <a:alpha val="70000"/>
            </a:srgbClr>
          </a:solidFill>
          <a:ln w="1524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2" name="Text 19"/>
          <p:cNvSpPr txBox="1"/>
          <p:nvPr/>
        </p:nvSpPr>
        <p:spPr>
          <a:xfrm>
            <a:off x="9994391" y="2061263"/>
            <a:ext cx="62179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998</a:t>
            </a:r>
          </a:p>
        </p:txBody>
      </p:sp>
      <p:sp>
        <p:nvSpPr>
          <p:cNvPr id="243" name="Shape 20"/>
          <p:cNvSpPr/>
          <p:nvPr/>
        </p:nvSpPr>
        <p:spPr>
          <a:xfrm>
            <a:off x="10753343" y="1828800"/>
            <a:ext cx="713233" cy="713232"/>
          </a:xfrm>
          <a:prstGeom prst="rect">
            <a:avLst/>
          </a:prstGeom>
          <a:solidFill>
            <a:srgbClr val="2EC4B6">
              <a:alpha val="70000"/>
            </a:srgbClr>
          </a:solidFill>
          <a:ln w="1524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4" name="Text 21"/>
          <p:cNvSpPr txBox="1"/>
          <p:nvPr/>
        </p:nvSpPr>
        <p:spPr>
          <a:xfrm>
            <a:off x="10799063" y="2061263"/>
            <a:ext cx="62179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999</a:t>
            </a:r>
          </a:p>
        </p:txBody>
      </p:sp>
      <p:sp>
        <p:nvSpPr>
          <p:cNvPr id="245" name="Shape 22"/>
          <p:cNvSpPr/>
          <p:nvPr/>
        </p:nvSpPr>
        <p:spPr>
          <a:xfrm>
            <a:off x="9052559" y="1691639"/>
            <a:ext cx="2505457" cy="987553"/>
          </a:xfrm>
          <a:prstGeom prst="rect">
            <a:avLst/>
          </a:prstGeom>
          <a:solidFill>
            <a:srgbClr val="2EC4B6">
              <a:alpha val="10000"/>
            </a:srgbClr>
          </a:solidFill>
          <a:ln w="25400">
            <a:solidFill>
              <a:srgbClr val="2EC4B6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246" name="Text 23"/>
          <p:cNvSpPr txBox="1"/>
          <p:nvPr/>
        </p:nvSpPr>
        <p:spPr>
          <a:xfrm>
            <a:off x="9098279" y="2806191"/>
            <a:ext cx="2414017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2EC4B6"/>
                </a:solidFill>
              </a:defRPr>
            </a:lvl1pPr>
          </a:lstStyle>
          <a:p>
            <a:pPr/>
            <a:r>
              <a:t>窗口内可见 (W=3)</a:t>
            </a:r>
          </a:p>
        </p:txBody>
      </p:sp>
      <p:sp>
        <p:nvSpPr>
          <p:cNvPr id="247" name="Text 24"/>
          <p:cNvSpPr txBox="1"/>
          <p:nvPr/>
        </p:nvSpPr>
        <p:spPr>
          <a:xfrm>
            <a:off x="5166360" y="2806191"/>
            <a:ext cx="3035809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1100">
                <a:solidFill>
                  <a:srgbClr val="64748B"/>
                </a:solidFill>
              </a:defRPr>
            </a:lvl1pPr>
          </a:lstStyle>
          <a:p>
            <a:pPr/>
            <a:r>
              <a:t>← 远处全部丢掉</a:t>
            </a:r>
          </a:p>
        </p:txBody>
      </p:sp>
      <p:sp>
        <p:nvSpPr>
          <p:cNvPr id="248" name="Text 25"/>
          <p:cNvSpPr txBox="1"/>
          <p:nvPr/>
        </p:nvSpPr>
        <p:spPr>
          <a:xfrm>
            <a:off x="10341863" y="1361440"/>
            <a:ext cx="1536193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6B6B"/>
                </a:solidFill>
              </a:defRPr>
            </a:lvl1pPr>
          </a:lstStyle>
          <a:p>
            <a:pPr/>
            <a:r>
              <a:t>当前 q (位置 999)</a:t>
            </a:r>
          </a:p>
        </p:txBody>
      </p:sp>
      <p:sp>
        <p:nvSpPr>
          <p:cNvPr id="249" name="Shape 26"/>
          <p:cNvSpPr/>
          <p:nvPr/>
        </p:nvSpPr>
        <p:spPr>
          <a:xfrm>
            <a:off x="457200" y="5349240"/>
            <a:ext cx="5486400" cy="914401"/>
          </a:xfrm>
          <a:prstGeom prst="rect">
            <a:avLst/>
          </a:prstGeom>
          <a:solidFill>
            <a:srgbClr val="2EC4B6">
              <a:alpha val="20000"/>
            </a:srgbClr>
          </a:solidFill>
          <a:ln w="1905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0" name="Text 27"/>
          <p:cNvSpPr txBox="1"/>
          <p:nvPr/>
        </p:nvSpPr>
        <p:spPr>
          <a:xfrm>
            <a:off x="502919" y="5633720"/>
            <a:ext cx="53949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好处  N=100万 → 只算 W=128 (快约 7800x)</a:t>
            </a:r>
          </a:p>
        </p:txBody>
      </p:sp>
      <p:sp>
        <p:nvSpPr>
          <p:cNvPr id="251" name="Shape 28"/>
          <p:cNvSpPr/>
          <p:nvPr/>
        </p:nvSpPr>
        <p:spPr>
          <a:xfrm>
            <a:off x="6126479" y="5349240"/>
            <a:ext cx="5486401" cy="914401"/>
          </a:xfrm>
          <a:prstGeom prst="rect">
            <a:avLst/>
          </a:prstGeom>
          <a:solidFill>
            <a:srgbClr val="FF6B6B">
              <a:alpha val="20000"/>
            </a:srgbClr>
          </a:solidFill>
          <a:ln w="19050">
            <a:solidFill>
              <a:srgbClr val="FF6B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2" name="Text 29"/>
          <p:cNvSpPr txBox="1"/>
          <p:nvPr/>
        </p:nvSpPr>
        <p:spPr>
          <a:xfrm>
            <a:off x="6172200" y="5633720"/>
            <a:ext cx="539496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坏处  远处信息全丢失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0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5" name="Text 1"/>
          <p:cNvSpPr txBox="1"/>
          <p:nvPr/>
        </p:nvSpPr>
        <p:spPr>
          <a:xfrm>
            <a:off x="685799" y="382270"/>
            <a:ext cx="1097280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60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第 3 章 · 策略二: Compressed Attention (CFA)</a:t>
            </a:r>
          </a:p>
        </p:txBody>
      </p:sp>
      <p:sp>
        <p:nvSpPr>
          <p:cNvPr id="256" name="Shape 2"/>
          <p:cNvSpPr/>
          <p:nvPr/>
        </p:nvSpPr>
        <p:spPr>
          <a:xfrm>
            <a:off x="457199" y="1188719"/>
            <a:ext cx="11247122" cy="914401"/>
          </a:xfrm>
          <a:prstGeom prst="rect">
            <a:avLst/>
          </a:prstGeom>
          <a:solidFill>
            <a:srgbClr val="F7F9FC"/>
          </a:solidFill>
          <a:ln w="1270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7" name="Text 3"/>
          <p:cNvSpPr txBox="1"/>
          <p:nvPr/>
        </p:nvSpPr>
        <p:spPr>
          <a:xfrm>
            <a:off x="685800" y="1473200"/>
            <a:ext cx="1078992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400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概念  </a:t>
            </a:r>
            <a:r>
              <a:rPr sz="1300">
                <a:solidFill>
                  <a:srgbClr val="1A2332"/>
                </a:solidFill>
                <a:latin typeface="+mj-lt"/>
                <a:ea typeface="+mj-ea"/>
                <a:cs typeface="+mj-cs"/>
                <a:sym typeface="Calibri"/>
              </a:rPr>
              <a:t>远处也想看, 但不要那么细。每 </a:t>
            </a:r>
            <a:r>
              <a:rPr b="1" sz="1300">
                <a:solidFill>
                  <a:srgbClr val="FF6B6B"/>
                </a:solidFill>
                <a:latin typeface="Consolas"/>
                <a:ea typeface="Consolas"/>
                <a:cs typeface="Consolas"/>
                <a:sym typeface="Consolas"/>
              </a:rPr>
              <a:t>cmp_ratio</a:t>
            </a:r>
            <a:r>
              <a:rPr sz="1300">
                <a:solidFill>
                  <a:srgbClr val="1A2332"/>
                </a:solidFill>
                <a:latin typeface="+mj-lt"/>
                <a:ea typeface="+mj-ea"/>
                <a:cs typeface="+mj-cs"/>
                <a:sym typeface="Calibri"/>
              </a:rPr>
              <a:t> 个原 token 压成 1 个「摘要 token」, 称为 cmp_kv。</a:t>
            </a:r>
          </a:p>
        </p:txBody>
      </p:sp>
      <p:sp>
        <p:nvSpPr>
          <p:cNvPr id="258" name="Shape 4"/>
          <p:cNvSpPr/>
          <p:nvPr/>
        </p:nvSpPr>
        <p:spPr>
          <a:xfrm>
            <a:off x="548640" y="2926079"/>
            <a:ext cx="1371601" cy="822961"/>
          </a:xfrm>
          <a:prstGeom prst="rect">
            <a:avLst/>
          </a:prstGeom>
          <a:solidFill>
            <a:srgbClr val="FFA9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9" name="Text 5"/>
          <p:cNvSpPr txBox="1"/>
          <p:nvPr/>
        </p:nvSpPr>
        <p:spPr>
          <a:xfrm>
            <a:off x="594359" y="3075939"/>
            <a:ext cx="1280162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q</a:t>
            </a:r>
          </a:p>
          <a:p>
            <a:pPr algn="ctr">
              <a:defRPr b="1" sz="1300">
                <a:solidFill>
                  <a:srgbClr val="FFFFFF"/>
                </a:solidFill>
              </a:defRPr>
            </a:pPr>
            <a:r>
              <a:t>(当前)</a:t>
            </a:r>
          </a:p>
        </p:txBody>
      </p:sp>
      <p:sp>
        <p:nvSpPr>
          <p:cNvPr id="260" name="Shape 6"/>
          <p:cNvSpPr/>
          <p:nvPr/>
        </p:nvSpPr>
        <p:spPr>
          <a:xfrm>
            <a:off x="2377439" y="2331720"/>
            <a:ext cx="2377441" cy="914401"/>
          </a:xfrm>
          <a:prstGeom prst="rect">
            <a:avLst/>
          </a:prstGeom>
          <a:solidFill>
            <a:srgbClr val="2EC4B6">
              <a:alpha val="40000"/>
            </a:srgbClr>
          </a:solidFill>
          <a:ln w="1905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1" name="Text 7"/>
          <p:cNvSpPr txBox="1"/>
          <p:nvPr/>
        </p:nvSpPr>
        <p:spPr>
          <a:xfrm>
            <a:off x="2423160" y="2510482"/>
            <a:ext cx="2286001" cy="556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200">
                <a:solidFill>
                  <a:srgbClr val="1A2332"/>
                </a:solidFill>
              </a:defRPr>
            </a:pPr>
            <a:r>
              <a:t>近处 ori_kv</a:t>
            </a:r>
          </a:p>
          <a:p>
            <a:pPr algn="ctr">
              <a:defRPr b="1" sz="1200">
                <a:solidFill>
                  <a:srgbClr val="1A2332"/>
                </a:solidFill>
              </a:defRPr>
            </a:pPr>
            <a:r>
              <a:t>(原版 128 个)</a:t>
            </a:r>
          </a:p>
        </p:txBody>
      </p:sp>
      <p:sp>
        <p:nvSpPr>
          <p:cNvPr id="262" name="Shape 8"/>
          <p:cNvSpPr/>
          <p:nvPr/>
        </p:nvSpPr>
        <p:spPr>
          <a:xfrm>
            <a:off x="2377439" y="3429000"/>
            <a:ext cx="2377441" cy="914400"/>
          </a:xfrm>
          <a:prstGeom prst="rect">
            <a:avLst/>
          </a:prstGeom>
          <a:solidFill>
            <a:srgbClr val="FF6B6B">
              <a:alpha val="40000"/>
            </a:srgbClr>
          </a:solidFill>
          <a:ln w="19050">
            <a:solidFill>
              <a:srgbClr val="FF6B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3" name="Text 9"/>
          <p:cNvSpPr txBox="1"/>
          <p:nvPr/>
        </p:nvSpPr>
        <p:spPr>
          <a:xfrm>
            <a:off x="2423160" y="3607762"/>
            <a:ext cx="2286001" cy="556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200">
                <a:solidFill>
                  <a:srgbClr val="1A2332"/>
                </a:solidFill>
              </a:defRPr>
            </a:pPr>
            <a:r>
              <a:t>远处 cmp_kv</a:t>
            </a:r>
          </a:p>
          <a:p>
            <a:pPr algn="ctr">
              <a:defRPr b="1" sz="1200">
                <a:solidFill>
                  <a:srgbClr val="1A2332"/>
                </a:solidFill>
              </a:defRPr>
            </a:pPr>
            <a:r>
              <a:t>(压缩摘要)</a:t>
            </a:r>
          </a:p>
        </p:txBody>
      </p:sp>
      <p:sp>
        <p:nvSpPr>
          <p:cNvPr id="264" name="Shape 10"/>
          <p:cNvSpPr/>
          <p:nvPr/>
        </p:nvSpPr>
        <p:spPr>
          <a:xfrm flipV="1">
            <a:off x="1913192" y="2914772"/>
            <a:ext cx="422787" cy="422787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65" name="Shape 11"/>
          <p:cNvSpPr/>
          <p:nvPr/>
        </p:nvSpPr>
        <p:spPr>
          <a:xfrm>
            <a:off x="1920239" y="3337559"/>
            <a:ext cx="457201" cy="502920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66" name="Shape 12"/>
          <p:cNvSpPr/>
          <p:nvPr/>
        </p:nvSpPr>
        <p:spPr>
          <a:xfrm>
            <a:off x="5212079" y="2788920"/>
            <a:ext cx="2103121" cy="1280161"/>
          </a:xfrm>
          <a:prstGeom prst="rect">
            <a:avLst/>
          </a:prstGeom>
          <a:solidFill>
            <a:srgbClr val="1E3A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7" name="Text 13"/>
          <p:cNvSpPr txBox="1"/>
          <p:nvPr/>
        </p:nvSpPr>
        <p:spPr>
          <a:xfrm>
            <a:off x="5257800" y="3154680"/>
            <a:ext cx="201168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拼接</a:t>
            </a:r>
          </a:p>
          <a:p>
            <a:pPr algn="ctr">
              <a:defRPr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K / V</a:t>
            </a:r>
          </a:p>
        </p:txBody>
      </p:sp>
      <p:sp>
        <p:nvSpPr>
          <p:cNvPr id="268" name="Shape 14"/>
          <p:cNvSpPr/>
          <p:nvPr/>
        </p:nvSpPr>
        <p:spPr>
          <a:xfrm>
            <a:off x="4754879" y="2788920"/>
            <a:ext cx="457202" cy="594360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69" name="Shape 15"/>
          <p:cNvSpPr/>
          <p:nvPr/>
        </p:nvSpPr>
        <p:spPr>
          <a:xfrm flipV="1">
            <a:off x="4747329" y="3428615"/>
            <a:ext cx="457585" cy="457585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70" name="Shape 16"/>
          <p:cNvSpPr/>
          <p:nvPr/>
        </p:nvSpPr>
        <p:spPr>
          <a:xfrm>
            <a:off x="7772400" y="2788920"/>
            <a:ext cx="1828800" cy="1280161"/>
          </a:xfrm>
          <a:prstGeom prst="rect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1" name="Text 17"/>
          <p:cNvSpPr txBox="1"/>
          <p:nvPr/>
        </p:nvSpPr>
        <p:spPr>
          <a:xfrm>
            <a:off x="7818119" y="3154680"/>
            <a:ext cx="173736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一起</a:t>
            </a:r>
          </a:p>
          <a:p>
            <a:pPr algn="ctr">
              <a:defRPr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softmax</a:t>
            </a:r>
          </a:p>
        </p:txBody>
      </p:sp>
      <p:sp>
        <p:nvSpPr>
          <p:cNvPr id="272" name="Shape 18"/>
          <p:cNvSpPr/>
          <p:nvPr/>
        </p:nvSpPr>
        <p:spPr>
          <a:xfrm>
            <a:off x="7315200" y="3429000"/>
            <a:ext cx="457200" cy="0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73" name="Shape 19"/>
          <p:cNvSpPr/>
          <p:nvPr/>
        </p:nvSpPr>
        <p:spPr>
          <a:xfrm>
            <a:off x="10058400" y="2788920"/>
            <a:ext cx="1554481" cy="1280161"/>
          </a:xfrm>
          <a:prstGeom prst="rect">
            <a:avLst/>
          </a:prstGeom>
          <a:solidFill>
            <a:srgbClr val="FFA9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4" name="Text 20"/>
          <p:cNvSpPr txBox="1"/>
          <p:nvPr/>
        </p:nvSpPr>
        <p:spPr>
          <a:xfrm>
            <a:off x="10104119" y="3129280"/>
            <a:ext cx="1463041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加权</a:t>
            </a:r>
          </a:p>
          <a:p>
            <a:pPr algn="ctr">
              <a:defRPr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求和</a:t>
            </a:r>
          </a:p>
        </p:txBody>
      </p:sp>
      <p:sp>
        <p:nvSpPr>
          <p:cNvPr id="275" name="Shape 21"/>
          <p:cNvSpPr/>
          <p:nvPr/>
        </p:nvSpPr>
        <p:spPr>
          <a:xfrm>
            <a:off x="9601200" y="3429000"/>
            <a:ext cx="457200" cy="0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76" name="Shape 22"/>
          <p:cNvSpPr/>
          <p:nvPr/>
        </p:nvSpPr>
        <p:spPr>
          <a:xfrm>
            <a:off x="548639" y="5212079"/>
            <a:ext cx="11064242" cy="1005840"/>
          </a:xfrm>
          <a:prstGeom prst="rect">
            <a:avLst/>
          </a:prstGeom>
          <a:solidFill>
            <a:srgbClr val="1E3A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7" name="Shape 23"/>
          <p:cNvSpPr/>
          <p:nvPr/>
        </p:nvSpPr>
        <p:spPr>
          <a:xfrm>
            <a:off x="548640" y="5212079"/>
            <a:ext cx="137161" cy="1005840"/>
          </a:xfrm>
          <a:prstGeom prst="rect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8" name="Text 24"/>
          <p:cNvSpPr txBox="1"/>
          <p:nvPr/>
        </p:nvSpPr>
        <p:spPr>
          <a:xfrm>
            <a:off x="914399" y="5542279"/>
            <a:ext cx="10607042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注意: cmp_kv 不是本算子算的, 是上游的 Compressor 算子算好后传进来的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0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1" name="Text 1"/>
          <p:cNvSpPr txBox="1"/>
          <p:nvPr/>
        </p:nvSpPr>
        <p:spPr>
          <a:xfrm>
            <a:off x="685799" y="382270"/>
            <a:ext cx="1097280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60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第 3 章 · 策略三: Sparse Compressed Attention (SCFA)</a:t>
            </a:r>
          </a:p>
        </p:txBody>
      </p:sp>
      <p:sp>
        <p:nvSpPr>
          <p:cNvPr id="282" name="Shape 2"/>
          <p:cNvSpPr/>
          <p:nvPr/>
        </p:nvSpPr>
        <p:spPr>
          <a:xfrm>
            <a:off x="457199" y="1188719"/>
            <a:ext cx="11247122" cy="914401"/>
          </a:xfrm>
          <a:prstGeom prst="rect">
            <a:avLst/>
          </a:prstGeom>
          <a:solidFill>
            <a:srgbClr val="F7F9FC"/>
          </a:solidFill>
          <a:ln w="12700">
            <a:solidFill>
              <a:srgbClr val="FF6B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3" name="Text 3"/>
          <p:cNvSpPr txBox="1"/>
          <p:nvPr/>
        </p:nvSpPr>
        <p:spPr>
          <a:xfrm>
            <a:off x="685800" y="1473200"/>
            <a:ext cx="1078992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400">
                <a:solidFill>
                  <a:srgbClr val="FF6B6B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直觉  </a:t>
            </a:r>
            <a:r>
              <a:rPr sz="1300">
                <a:solidFill>
                  <a:srgbClr val="1A2332"/>
                </a:solidFill>
                <a:latin typeface="+mj-lt"/>
                <a:ea typeface="+mj-ea"/>
                <a:cs typeface="+mj-cs"/>
                <a:sym typeface="Calibri"/>
              </a:rPr>
              <a:t>cmp_kv 25 万摘要里, 对当前 q 真正有用的可能只有几百个。「提前挑出来」再算。</a:t>
            </a:r>
          </a:p>
        </p:txBody>
      </p:sp>
      <p:sp>
        <p:nvSpPr>
          <p:cNvPr id="284" name="Shape 4"/>
          <p:cNvSpPr/>
          <p:nvPr/>
        </p:nvSpPr>
        <p:spPr>
          <a:xfrm>
            <a:off x="548640" y="2926079"/>
            <a:ext cx="1280161" cy="822961"/>
          </a:xfrm>
          <a:prstGeom prst="rect">
            <a:avLst/>
          </a:prstGeom>
          <a:solidFill>
            <a:srgbClr val="FFA9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5" name="Text 5"/>
          <p:cNvSpPr txBox="1"/>
          <p:nvPr/>
        </p:nvSpPr>
        <p:spPr>
          <a:xfrm>
            <a:off x="594359" y="3158489"/>
            <a:ext cx="1188722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q</a:t>
            </a:r>
          </a:p>
        </p:txBody>
      </p:sp>
      <p:sp>
        <p:nvSpPr>
          <p:cNvPr id="286" name="Shape 6"/>
          <p:cNvSpPr/>
          <p:nvPr/>
        </p:nvSpPr>
        <p:spPr>
          <a:xfrm>
            <a:off x="2194560" y="2194560"/>
            <a:ext cx="2377440" cy="914401"/>
          </a:xfrm>
          <a:prstGeom prst="rect">
            <a:avLst/>
          </a:prstGeom>
          <a:solidFill>
            <a:srgbClr val="2EC4B6">
              <a:alpha val="40000"/>
            </a:srgbClr>
          </a:solidFill>
          <a:ln w="1905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7" name="Text 7"/>
          <p:cNvSpPr txBox="1"/>
          <p:nvPr/>
        </p:nvSpPr>
        <p:spPr>
          <a:xfrm>
            <a:off x="2240280" y="2373322"/>
            <a:ext cx="2286001" cy="556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200">
                <a:solidFill>
                  <a:srgbClr val="1A2332"/>
                </a:solidFill>
              </a:defRPr>
            </a:pPr>
            <a:r>
              <a:t>近处 ori_kv</a:t>
            </a:r>
          </a:p>
          <a:p>
            <a:pPr algn="ctr">
              <a:defRPr b="1" sz="1200">
                <a:solidFill>
                  <a:srgbClr val="1A2332"/>
                </a:solidFill>
              </a:defRPr>
            </a:pPr>
            <a:r>
              <a:t>(原版 128)</a:t>
            </a:r>
          </a:p>
        </p:txBody>
      </p:sp>
      <p:sp>
        <p:nvSpPr>
          <p:cNvPr id="288" name="Shape 8"/>
          <p:cNvSpPr/>
          <p:nvPr/>
        </p:nvSpPr>
        <p:spPr>
          <a:xfrm>
            <a:off x="2194560" y="3337559"/>
            <a:ext cx="2377440" cy="914401"/>
          </a:xfrm>
          <a:prstGeom prst="rect">
            <a:avLst/>
          </a:prstGeom>
          <a:solidFill>
            <a:srgbClr val="64748B">
              <a:alpha val="20000"/>
            </a:srgbClr>
          </a:solidFill>
          <a:ln w="12700">
            <a:solidFill>
              <a:srgbClr val="64748B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289" name="Text 9"/>
          <p:cNvSpPr txBox="1"/>
          <p:nvPr/>
        </p:nvSpPr>
        <p:spPr>
          <a:xfrm>
            <a:off x="2240280" y="3530423"/>
            <a:ext cx="2286001" cy="528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i="1" sz="1100">
                <a:solidFill>
                  <a:srgbClr val="64748B"/>
                </a:solidFill>
              </a:defRPr>
            </a:pPr>
            <a:r>
              <a:t>cmp_kv 全部</a:t>
            </a:r>
          </a:p>
          <a:p>
            <a:pPr algn="ctr">
              <a:defRPr i="1" sz="1100">
                <a:solidFill>
                  <a:srgbClr val="64748B"/>
                </a:solidFill>
              </a:defRPr>
            </a:pPr>
            <a:r>
              <a:t>(25万 摘要)</a:t>
            </a:r>
          </a:p>
        </p:txBody>
      </p:sp>
      <p:sp>
        <p:nvSpPr>
          <p:cNvPr id="290" name="Shape 10"/>
          <p:cNvSpPr/>
          <p:nvPr/>
        </p:nvSpPr>
        <p:spPr>
          <a:xfrm>
            <a:off x="2194560" y="4434840"/>
            <a:ext cx="2377440" cy="914401"/>
          </a:xfrm>
          <a:prstGeom prst="rect">
            <a:avLst/>
          </a:prstGeom>
          <a:solidFill>
            <a:srgbClr val="FF6B6B">
              <a:alpha val="50000"/>
            </a:srgbClr>
          </a:solidFill>
          <a:ln w="19050">
            <a:solidFill>
              <a:srgbClr val="FF6B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1" name="Text 11"/>
          <p:cNvSpPr txBox="1"/>
          <p:nvPr/>
        </p:nvSpPr>
        <p:spPr>
          <a:xfrm>
            <a:off x="2240280" y="4659937"/>
            <a:ext cx="2286001" cy="4642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200">
                <a:solidFill>
                  <a:srgbClr val="1A2332"/>
                </a:solidFill>
              </a:defRPr>
            </a:pPr>
            <a:r>
              <a:t>挑出几百个</a:t>
            </a:r>
          </a:p>
          <a:p>
            <a:pPr algn="ctr">
              <a:defRPr b="1" sz="1200">
                <a:solidFill>
                  <a:srgbClr val="1A2332"/>
                </a:solidFill>
              </a:defRPr>
            </a:pPr>
            <a:r>
              <a:t>(sparse_indices)</a:t>
            </a:r>
          </a:p>
        </p:txBody>
      </p:sp>
      <p:sp>
        <p:nvSpPr>
          <p:cNvPr id="292" name="Shape 12"/>
          <p:cNvSpPr/>
          <p:nvPr/>
        </p:nvSpPr>
        <p:spPr>
          <a:xfrm>
            <a:off x="3383279" y="4251959"/>
            <a:ext cx="1" cy="182882"/>
          </a:xfrm>
          <a:prstGeom prst="line">
            <a:avLst/>
          </a:prstGeom>
          <a:ln w="25400">
            <a:solidFill>
              <a:srgbClr val="FF6B6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93" name="Shape 13"/>
          <p:cNvSpPr/>
          <p:nvPr/>
        </p:nvSpPr>
        <p:spPr>
          <a:xfrm flipV="1">
            <a:off x="1837820" y="2641599"/>
            <a:ext cx="365232" cy="695961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94" name="Shape 14"/>
          <p:cNvSpPr/>
          <p:nvPr/>
        </p:nvSpPr>
        <p:spPr>
          <a:xfrm>
            <a:off x="1828800" y="3337559"/>
            <a:ext cx="365760" cy="1554482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95" name="Shape 15"/>
          <p:cNvSpPr/>
          <p:nvPr/>
        </p:nvSpPr>
        <p:spPr>
          <a:xfrm>
            <a:off x="5029200" y="3154679"/>
            <a:ext cx="1828800" cy="914401"/>
          </a:xfrm>
          <a:prstGeom prst="rect">
            <a:avLst/>
          </a:prstGeom>
          <a:solidFill>
            <a:srgbClr val="1E3A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6" name="Text 16"/>
          <p:cNvSpPr txBox="1"/>
          <p:nvPr/>
        </p:nvSpPr>
        <p:spPr>
          <a:xfrm>
            <a:off x="5074920" y="3439159"/>
            <a:ext cx="17373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拼接</a:t>
            </a:r>
          </a:p>
        </p:txBody>
      </p:sp>
      <p:sp>
        <p:nvSpPr>
          <p:cNvPr id="297" name="Shape 17"/>
          <p:cNvSpPr/>
          <p:nvPr/>
        </p:nvSpPr>
        <p:spPr>
          <a:xfrm>
            <a:off x="4571999" y="2651760"/>
            <a:ext cx="457201" cy="960121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98" name="Shape 18"/>
          <p:cNvSpPr/>
          <p:nvPr/>
        </p:nvSpPr>
        <p:spPr>
          <a:xfrm flipV="1">
            <a:off x="4581724" y="3755046"/>
            <a:ext cx="440713" cy="1137088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99" name="Shape 19"/>
          <p:cNvSpPr/>
          <p:nvPr/>
        </p:nvSpPr>
        <p:spPr>
          <a:xfrm>
            <a:off x="7315200" y="3154679"/>
            <a:ext cx="1828800" cy="914401"/>
          </a:xfrm>
          <a:prstGeom prst="rect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0" name="Text 20"/>
          <p:cNvSpPr txBox="1"/>
          <p:nvPr/>
        </p:nvSpPr>
        <p:spPr>
          <a:xfrm>
            <a:off x="7360919" y="3464559"/>
            <a:ext cx="17373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softmax</a:t>
            </a:r>
          </a:p>
        </p:txBody>
      </p:sp>
      <p:sp>
        <p:nvSpPr>
          <p:cNvPr id="301" name="Shape 21"/>
          <p:cNvSpPr/>
          <p:nvPr/>
        </p:nvSpPr>
        <p:spPr>
          <a:xfrm>
            <a:off x="6858000" y="3611879"/>
            <a:ext cx="457200" cy="1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02" name="Shape 22"/>
          <p:cNvSpPr/>
          <p:nvPr/>
        </p:nvSpPr>
        <p:spPr>
          <a:xfrm>
            <a:off x="9692640" y="3154679"/>
            <a:ext cx="1920241" cy="914401"/>
          </a:xfrm>
          <a:prstGeom prst="rect">
            <a:avLst/>
          </a:prstGeom>
          <a:solidFill>
            <a:srgbClr val="FFA9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3" name="Text 23"/>
          <p:cNvSpPr txBox="1"/>
          <p:nvPr/>
        </p:nvSpPr>
        <p:spPr>
          <a:xfrm>
            <a:off x="9738359" y="3439159"/>
            <a:ext cx="182880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加权求和</a:t>
            </a:r>
          </a:p>
        </p:txBody>
      </p:sp>
      <p:sp>
        <p:nvSpPr>
          <p:cNvPr id="304" name="Shape 24"/>
          <p:cNvSpPr/>
          <p:nvPr/>
        </p:nvSpPr>
        <p:spPr>
          <a:xfrm>
            <a:off x="9235440" y="3611879"/>
            <a:ext cx="457201" cy="1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05" name="Shape 25"/>
          <p:cNvSpPr/>
          <p:nvPr/>
        </p:nvSpPr>
        <p:spPr>
          <a:xfrm>
            <a:off x="548639" y="5532120"/>
            <a:ext cx="11064242" cy="777241"/>
          </a:xfrm>
          <a:prstGeom prst="rect">
            <a:avLst/>
          </a:prstGeom>
          <a:solidFill>
            <a:srgbClr val="1E3A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6" name="Shape 26"/>
          <p:cNvSpPr/>
          <p:nvPr/>
        </p:nvSpPr>
        <p:spPr>
          <a:xfrm>
            <a:off x="548640" y="5532120"/>
            <a:ext cx="137161" cy="777241"/>
          </a:xfrm>
          <a:prstGeom prst="rect">
            <a:avLst/>
          </a:prstGeom>
          <a:solidFill>
            <a:srgbClr val="FF6B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7" name="Text 27"/>
          <p:cNvSpPr txBox="1"/>
          <p:nvPr/>
        </p:nvSpPr>
        <p:spPr>
          <a:xfrm>
            <a:off x="914399" y="5760720"/>
            <a:ext cx="1060704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cmp_sparse_indices 由上层算法选好后传入本算子, 算子只负责按索引取出对应行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0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0" name="Text 1"/>
          <p:cNvSpPr txBox="1"/>
          <p:nvPr/>
        </p:nvSpPr>
        <p:spPr>
          <a:xfrm>
            <a:off x="685799" y="382270"/>
            <a:ext cx="1097280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60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第 3 章 · 三种场景汇总</a:t>
            </a:r>
          </a:p>
        </p:txBody>
      </p:sp>
      <p:sp>
        <p:nvSpPr>
          <p:cNvPr id="311" name="Shape 2"/>
          <p:cNvSpPr/>
          <p:nvPr/>
        </p:nvSpPr>
        <p:spPr>
          <a:xfrm>
            <a:off x="548640" y="1371600"/>
            <a:ext cx="1554481" cy="640081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2" name="Shape 3"/>
          <p:cNvSpPr/>
          <p:nvPr/>
        </p:nvSpPr>
        <p:spPr>
          <a:xfrm>
            <a:off x="2103120" y="1371600"/>
            <a:ext cx="4846321" cy="640081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3" name="Shape 4"/>
          <p:cNvSpPr/>
          <p:nvPr/>
        </p:nvSpPr>
        <p:spPr>
          <a:xfrm>
            <a:off x="6949440" y="1371600"/>
            <a:ext cx="4846321" cy="640081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4" name="Text 5"/>
          <p:cNvSpPr txBox="1"/>
          <p:nvPr/>
        </p:nvSpPr>
        <p:spPr>
          <a:xfrm>
            <a:off x="594359" y="1506219"/>
            <a:ext cx="146304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场景</a:t>
            </a:r>
          </a:p>
        </p:txBody>
      </p:sp>
      <p:sp>
        <p:nvSpPr>
          <p:cNvPr id="315" name="Text 6"/>
          <p:cNvSpPr txBox="1"/>
          <p:nvPr/>
        </p:nvSpPr>
        <p:spPr>
          <a:xfrm>
            <a:off x="2148839" y="1506219"/>
            <a:ext cx="475488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输入</a:t>
            </a:r>
          </a:p>
        </p:txBody>
      </p:sp>
      <p:sp>
        <p:nvSpPr>
          <p:cNvPr id="316" name="Text 7"/>
          <p:cNvSpPr txBox="1"/>
          <p:nvPr/>
        </p:nvSpPr>
        <p:spPr>
          <a:xfrm>
            <a:off x="6995159" y="1506219"/>
            <a:ext cx="475488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含义</a:t>
            </a:r>
          </a:p>
        </p:txBody>
      </p:sp>
      <p:sp>
        <p:nvSpPr>
          <p:cNvPr id="317" name="Shape 8"/>
          <p:cNvSpPr/>
          <p:nvPr/>
        </p:nvSpPr>
        <p:spPr>
          <a:xfrm>
            <a:off x="548640" y="2011679"/>
            <a:ext cx="1554481" cy="960121"/>
          </a:xfrm>
          <a:prstGeom prst="rect">
            <a:avLst/>
          </a:prstGeom>
          <a:solidFill>
            <a:srgbClr val="F7F9FC"/>
          </a:solidFill>
          <a:ln w="6350">
            <a:solidFill>
              <a:srgbClr val="6474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8" name="Shape 9"/>
          <p:cNvSpPr/>
          <p:nvPr/>
        </p:nvSpPr>
        <p:spPr>
          <a:xfrm>
            <a:off x="548640" y="2011679"/>
            <a:ext cx="109729" cy="960121"/>
          </a:xfrm>
          <a:prstGeom prst="rect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9" name="Text 10"/>
          <p:cNvSpPr txBox="1"/>
          <p:nvPr/>
        </p:nvSpPr>
        <p:spPr>
          <a:xfrm>
            <a:off x="731520" y="2319019"/>
            <a:ext cx="132588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场景 一</a:t>
            </a:r>
          </a:p>
        </p:txBody>
      </p:sp>
      <p:sp>
        <p:nvSpPr>
          <p:cNvPr id="320" name="Shape 11"/>
          <p:cNvSpPr/>
          <p:nvPr/>
        </p:nvSpPr>
        <p:spPr>
          <a:xfrm>
            <a:off x="2103120" y="2011679"/>
            <a:ext cx="4846321" cy="960121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1" name="Text 12"/>
          <p:cNvSpPr txBox="1"/>
          <p:nvPr/>
        </p:nvSpPr>
        <p:spPr>
          <a:xfrm>
            <a:off x="2286000" y="2319019"/>
            <a:ext cx="448056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只传 ori_kv</a:t>
            </a:r>
          </a:p>
        </p:txBody>
      </p:sp>
      <p:sp>
        <p:nvSpPr>
          <p:cNvPr id="322" name="Shape 13"/>
          <p:cNvSpPr/>
          <p:nvPr/>
        </p:nvSpPr>
        <p:spPr>
          <a:xfrm>
            <a:off x="6949440" y="2011679"/>
            <a:ext cx="4846321" cy="960121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3" name="Text 14"/>
          <p:cNvSpPr txBox="1"/>
          <p:nvPr/>
        </p:nvSpPr>
        <p:spPr>
          <a:xfrm>
            <a:off x="7132319" y="2319019"/>
            <a:ext cx="44805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1A2332"/>
                </a:solidFill>
              </a:defRPr>
            </a:lvl1pPr>
          </a:lstStyle>
          <a:p>
            <a:pPr/>
            <a:r>
              <a:t>纯 SWA (滑动窗口)</a:t>
            </a:r>
          </a:p>
        </p:txBody>
      </p:sp>
      <p:sp>
        <p:nvSpPr>
          <p:cNvPr id="324" name="Shape 15"/>
          <p:cNvSpPr/>
          <p:nvPr/>
        </p:nvSpPr>
        <p:spPr>
          <a:xfrm>
            <a:off x="548640" y="2971800"/>
            <a:ext cx="1554481" cy="960120"/>
          </a:xfrm>
          <a:prstGeom prst="rect">
            <a:avLst/>
          </a:prstGeom>
          <a:solidFill>
            <a:srgbClr val="F7F9FC"/>
          </a:solidFill>
          <a:ln w="6350">
            <a:solidFill>
              <a:srgbClr val="6474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5" name="Shape 16"/>
          <p:cNvSpPr/>
          <p:nvPr/>
        </p:nvSpPr>
        <p:spPr>
          <a:xfrm>
            <a:off x="548640" y="2971800"/>
            <a:ext cx="109729" cy="960120"/>
          </a:xfrm>
          <a:prstGeom prst="rect">
            <a:avLst/>
          </a:prstGeom>
          <a:solidFill>
            <a:srgbClr val="FFA9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6" name="Text 17"/>
          <p:cNvSpPr txBox="1"/>
          <p:nvPr/>
        </p:nvSpPr>
        <p:spPr>
          <a:xfrm>
            <a:off x="731520" y="3279139"/>
            <a:ext cx="132588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A94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场景 二</a:t>
            </a:r>
          </a:p>
        </p:txBody>
      </p:sp>
      <p:sp>
        <p:nvSpPr>
          <p:cNvPr id="327" name="Shape 18"/>
          <p:cNvSpPr/>
          <p:nvPr/>
        </p:nvSpPr>
        <p:spPr>
          <a:xfrm>
            <a:off x="2103120" y="2971800"/>
            <a:ext cx="4846321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8" name="Text 19"/>
          <p:cNvSpPr txBox="1"/>
          <p:nvPr/>
        </p:nvSpPr>
        <p:spPr>
          <a:xfrm>
            <a:off x="2286000" y="3298189"/>
            <a:ext cx="448056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ori_kv + cmp_kv</a:t>
            </a:r>
          </a:p>
        </p:txBody>
      </p:sp>
      <p:sp>
        <p:nvSpPr>
          <p:cNvPr id="329" name="Shape 20"/>
          <p:cNvSpPr/>
          <p:nvPr/>
        </p:nvSpPr>
        <p:spPr>
          <a:xfrm>
            <a:off x="6949440" y="2971800"/>
            <a:ext cx="4846321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0" name="Text 21"/>
          <p:cNvSpPr txBox="1"/>
          <p:nvPr/>
        </p:nvSpPr>
        <p:spPr>
          <a:xfrm>
            <a:off x="7132319" y="3279139"/>
            <a:ext cx="44805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1A2332"/>
                </a:solidFill>
              </a:defRPr>
            </a:lvl1pPr>
          </a:lstStyle>
          <a:p>
            <a:pPr/>
            <a:r>
              <a:t>SWA + CFA (滑窗 + 压缩)</a:t>
            </a:r>
          </a:p>
        </p:txBody>
      </p:sp>
      <p:sp>
        <p:nvSpPr>
          <p:cNvPr id="331" name="Shape 22"/>
          <p:cNvSpPr/>
          <p:nvPr/>
        </p:nvSpPr>
        <p:spPr>
          <a:xfrm>
            <a:off x="548640" y="3931920"/>
            <a:ext cx="1554481" cy="960121"/>
          </a:xfrm>
          <a:prstGeom prst="rect">
            <a:avLst/>
          </a:prstGeom>
          <a:solidFill>
            <a:srgbClr val="F7F9FC"/>
          </a:solidFill>
          <a:ln w="6350">
            <a:solidFill>
              <a:srgbClr val="6474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2" name="Shape 23"/>
          <p:cNvSpPr/>
          <p:nvPr/>
        </p:nvSpPr>
        <p:spPr>
          <a:xfrm>
            <a:off x="548640" y="3931920"/>
            <a:ext cx="109729" cy="960121"/>
          </a:xfrm>
          <a:prstGeom prst="rect">
            <a:avLst/>
          </a:prstGeom>
          <a:solidFill>
            <a:srgbClr val="FF6B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3" name="Text 24"/>
          <p:cNvSpPr txBox="1"/>
          <p:nvPr/>
        </p:nvSpPr>
        <p:spPr>
          <a:xfrm>
            <a:off x="731520" y="4239259"/>
            <a:ext cx="132588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FF6B6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场景 三</a:t>
            </a:r>
          </a:p>
        </p:txBody>
      </p:sp>
      <p:sp>
        <p:nvSpPr>
          <p:cNvPr id="334" name="Shape 25"/>
          <p:cNvSpPr/>
          <p:nvPr/>
        </p:nvSpPr>
        <p:spPr>
          <a:xfrm>
            <a:off x="2103120" y="3931920"/>
            <a:ext cx="4846321" cy="960121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5" name="Text 26"/>
          <p:cNvSpPr txBox="1"/>
          <p:nvPr/>
        </p:nvSpPr>
        <p:spPr>
          <a:xfrm>
            <a:off x="2286000" y="4258309"/>
            <a:ext cx="448056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ori_kv + cmp_kv + cmp_sparse_indices</a:t>
            </a:r>
          </a:p>
        </p:txBody>
      </p:sp>
      <p:sp>
        <p:nvSpPr>
          <p:cNvPr id="336" name="Shape 27"/>
          <p:cNvSpPr/>
          <p:nvPr/>
        </p:nvSpPr>
        <p:spPr>
          <a:xfrm>
            <a:off x="6949440" y="3931920"/>
            <a:ext cx="4846321" cy="960121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7" name="Text 28"/>
          <p:cNvSpPr txBox="1"/>
          <p:nvPr/>
        </p:nvSpPr>
        <p:spPr>
          <a:xfrm>
            <a:off x="7132319" y="4239259"/>
            <a:ext cx="44805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1A2332"/>
                </a:solidFill>
              </a:defRPr>
            </a:lvl1pPr>
          </a:lstStyle>
          <a:p>
            <a:pPr/>
            <a:r>
              <a:t>SWA + SCFA (滑窗 + 稀疏压缩)</a:t>
            </a:r>
          </a:p>
        </p:txBody>
      </p:sp>
      <p:sp>
        <p:nvSpPr>
          <p:cNvPr id="338" name="Shape 29"/>
          <p:cNvSpPr/>
          <p:nvPr/>
        </p:nvSpPr>
        <p:spPr>
          <a:xfrm>
            <a:off x="548639" y="5029200"/>
            <a:ext cx="11064242" cy="1188720"/>
          </a:xfrm>
          <a:prstGeom prst="rect">
            <a:avLst/>
          </a:prstGeom>
          <a:solidFill>
            <a:srgbClr val="2EC4B6">
              <a:alpha val="20000"/>
            </a:srgbClr>
          </a:solidFill>
          <a:ln w="2540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9" name="Text 30"/>
          <p:cNvSpPr txBox="1"/>
          <p:nvPr/>
        </p:nvSpPr>
        <p:spPr>
          <a:xfrm>
            <a:off x="685800" y="5438139"/>
            <a:ext cx="1078992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本算子同时支持这三种场景 — 通过传入或不传入 cmp_kv / cmp_sparse_indices 控制走哪一条路径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Shape 0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2" name="Text 1"/>
          <p:cNvSpPr txBox="1"/>
          <p:nvPr/>
        </p:nvSpPr>
        <p:spPr>
          <a:xfrm>
            <a:off x="685799" y="382270"/>
            <a:ext cx="1097280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60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第 4 章 · 共享 KV — MQA 架构</a:t>
            </a:r>
          </a:p>
        </p:txBody>
      </p:sp>
      <p:sp>
        <p:nvSpPr>
          <p:cNvPr id="343" name="Shape 2"/>
          <p:cNvSpPr/>
          <p:nvPr/>
        </p:nvSpPr>
        <p:spPr>
          <a:xfrm>
            <a:off x="457199" y="1188719"/>
            <a:ext cx="4937762" cy="4023361"/>
          </a:xfrm>
          <a:prstGeom prst="rect">
            <a:avLst/>
          </a:prstGeom>
          <a:solidFill>
            <a:srgbClr val="F7F9FC"/>
          </a:solidFill>
          <a:ln w="1270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4" name="Text 3"/>
          <p:cNvSpPr txBox="1"/>
          <p:nvPr/>
        </p:nvSpPr>
        <p:spPr>
          <a:xfrm>
            <a:off x="685800" y="1369060"/>
            <a:ext cx="44805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从 MHA 到 MQA</a:t>
            </a:r>
          </a:p>
        </p:txBody>
      </p:sp>
      <p:sp>
        <p:nvSpPr>
          <p:cNvPr id="345" name="Text 4"/>
          <p:cNvSpPr txBox="1"/>
          <p:nvPr/>
        </p:nvSpPr>
        <p:spPr>
          <a:xfrm>
            <a:off x="685800" y="1828800"/>
            <a:ext cx="4480560" cy="13183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300">
                <a:solidFill>
                  <a:srgbClr val="FF6B6B"/>
                </a:solidFill>
              </a:defRPr>
            </a:pPr>
            <a:r>
              <a:t>普通 attention (MHA): </a:t>
            </a:r>
            <a:r>
              <a:rPr b="0">
                <a:solidFill>
                  <a:srgbClr val="1A2332"/>
                </a:solidFill>
              </a:rPr>
              <a:t>每个 q 头都有自己的一套 K/V。</a:t>
            </a:r>
            <a:endParaRPr b="0">
              <a:solidFill>
                <a:srgbClr val="1A2332"/>
              </a:solidFill>
            </a:endParaRPr>
          </a:p>
          <a:p>
            <a:pPr>
              <a:defRPr b="1" sz="1300">
                <a:solidFill>
                  <a:srgbClr val="FF6B6B"/>
                </a:solidFill>
              </a:defRPr>
            </a:pPr>
            <a:r>
              <a:rPr b="0" i="1">
                <a:solidFill>
                  <a:srgbClr val="64748B"/>
                </a:solidFill>
              </a:rPr>
              <a:t>→ 64 q 头 = 64 套 K/V。太占内存。</a:t>
            </a:r>
            <a:endParaRPr b="0" i="1">
              <a:solidFill>
                <a:srgbClr val="64748B"/>
              </a:solidFill>
            </a:endParaRPr>
          </a:p>
          <a:p>
            <a:pPr>
              <a:defRPr b="1" sz="1300">
                <a:solidFill>
                  <a:srgbClr val="FF6B6B"/>
                </a:solidFill>
              </a:defRPr>
            </a:pPr>
            <a:endParaRPr b="0" i="1">
              <a:solidFill>
                <a:srgbClr val="64748B"/>
              </a:solidFill>
            </a:endParaRPr>
          </a:p>
          <a:p>
            <a:pPr>
              <a:defRPr b="1" sz="1300">
                <a:solidFill>
                  <a:srgbClr val="FF6B6B"/>
                </a:solidFill>
              </a:defRPr>
            </a:pPr>
            <a:r>
              <a:rPr>
                <a:solidFill>
                  <a:srgbClr val="2EC4B6"/>
                </a:solidFill>
              </a:rPr>
              <a:t>解决方案 (MQA): </a:t>
            </a:r>
            <a:r>
              <a:rPr b="0">
                <a:solidFill>
                  <a:srgbClr val="1A2332"/>
                </a:solidFill>
              </a:rPr>
              <a:t>64 个 q 头共用 1 套 K/V。</a:t>
            </a:r>
            <a:endParaRPr b="0">
              <a:solidFill>
                <a:srgbClr val="1A2332"/>
              </a:solidFill>
            </a:endParaRPr>
          </a:p>
          <a:p>
            <a:pPr>
              <a:defRPr b="1" sz="1300">
                <a:solidFill>
                  <a:srgbClr val="FF6B6B"/>
                </a:solidFill>
              </a:defRPr>
            </a:pPr>
            <a:r>
              <a:rPr b="0" i="1">
                <a:solidFill>
                  <a:srgbClr val="64748B"/>
                </a:solidFill>
              </a:rPr>
              <a:t>→ K/V 内存直接 ÷ 64。</a:t>
            </a:r>
          </a:p>
        </p:txBody>
      </p:sp>
      <p:sp>
        <p:nvSpPr>
          <p:cNvPr id="346" name="Shape 5"/>
          <p:cNvSpPr/>
          <p:nvPr/>
        </p:nvSpPr>
        <p:spPr>
          <a:xfrm>
            <a:off x="5852159" y="1371600"/>
            <a:ext cx="1097281" cy="365761"/>
          </a:xfrm>
          <a:prstGeom prst="rect">
            <a:avLst/>
          </a:prstGeom>
          <a:solidFill>
            <a:srgbClr val="FFA94D">
              <a:alpha val="50000"/>
            </a:srgbClr>
          </a:solidFill>
          <a:ln w="12700">
            <a:solidFill>
              <a:srgbClr val="FFA94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7" name="Text 6"/>
          <p:cNvSpPr txBox="1"/>
          <p:nvPr/>
        </p:nvSpPr>
        <p:spPr>
          <a:xfrm>
            <a:off x="5897879" y="1426210"/>
            <a:ext cx="100584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q_0</a:t>
            </a:r>
          </a:p>
        </p:txBody>
      </p:sp>
      <p:sp>
        <p:nvSpPr>
          <p:cNvPr id="348" name="Shape 7"/>
          <p:cNvSpPr/>
          <p:nvPr/>
        </p:nvSpPr>
        <p:spPr>
          <a:xfrm>
            <a:off x="6949440" y="1554479"/>
            <a:ext cx="2286001" cy="1280162"/>
          </a:xfrm>
          <a:prstGeom prst="line">
            <a:avLst/>
          </a:prstGeom>
          <a:ln w="10160">
            <a:solidFill>
              <a:srgbClr val="64748B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9" name="Shape 8"/>
          <p:cNvSpPr/>
          <p:nvPr/>
        </p:nvSpPr>
        <p:spPr>
          <a:xfrm>
            <a:off x="5852159" y="1783079"/>
            <a:ext cx="1097281" cy="365761"/>
          </a:xfrm>
          <a:prstGeom prst="rect">
            <a:avLst/>
          </a:prstGeom>
          <a:solidFill>
            <a:srgbClr val="FFA94D">
              <a:alpha val="50000"/>
            </a:srgbClr>
          </a:solidFill>
          <a:ln w="12700">
            <a:solidFill>
              <a:srgbClr val="FFA94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0" name="Text 9"/>
          <p:cNvSpPr txBox="1"/>
          <p:nvPr/>
        </p:nvSpPr>
        <p:spPr>
          <a:xfrm>
            <a:off x="5897879" y="1837689"/>
            <a:ext cx="100584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q_1</a:t>
            </a:r>
          </a:p>
        </p:txBody>
      </p:sp>
      <p:sp>
        <p:nvSpPr>
          <p:cNvPr id="351" name="Shape 10"/>
          <p:cNvSpPr/>
          <p:nvPr/>
        </p:nvSpPr>
        <p:spPr>
          <a:xfrm>
            <a:off x="6949439" y="1965959"/>
            <a:ext cx="2286001" cy="868682"/>
          </a:xfrm>
          <a:prstGeom prst="line">
            <a:avLst/>
          </a:prstGeom>
          <a:ln w="10160">
            <a:solidFill>
              <a:srgbClr val="64748B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2" name="Shape 11"/>
          <p:cNvSpPr/>
          <p:nvPr/>
        </p:nvSpPr>
        <p:spPr>
          <a:xfrm>
            <a:off x="5852159" y="2194560"/>
            <a:ext cx="1097281" cy="365761"/>
          </a:xfrm>
          <a:prstGeom prst="rect">
            <a:avLst/>
          </a:prstGeom>
          <a:solidFill>
            <a:srgbClr val="FFA94D">
              <a:alpha val="50000"/>
            </a:srgbClr>
          </a:solidFill>
          <a:ln w="12700">
            <a:solidFill>
              <a:srgbClr val="FFA94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3" name="Text 12"/>
          <p:cNvSpPr txBox="1"/>
          <p:nvPr/>
        </p:nvSpPr>
        <p:spPr>
          <a:xfrm>
            <a:off x="5897879" y="2249169"/>
            <a:ext cx="100584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q_2</a:t>
            </a:r>
          </a:p>
        </p:txBody>
      </p:sp>
      <p:sp>
        <p:nvSpPr>
          <p:cNvPr id="354" name="Shape 13"/>
          <p:cNvSpPr/>
          <p:nvPr/>
        </p:nvSpPr>
        <p:spPr>
          <a:xfrm>
            <a:off x="6949440" y="2377439"/>
            <a:ext cx="2286001" cy="457202"/>
          </a:xfrm>
          <a:prstGeom prst="line">
            <a:avLst/>
          </a:prstGeom>
          <a:ln w="10160">
            <a:solidFill>
              <a:srgbClr val="64748B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5" name="Shape 14"/>
          <p:cNvSpPr/>
          <p:nvPr/>
        </p:nvSpPr>
        <p:spPr>
          <a:xfrm>
            <a:off x="5852159" y="2606039"/>
            <a:ext cx="1097281" cy="365761"/>
          </a:xfrm>
          <a:prstGeom prst="rect">
            <a:avLst/>
          </a:prstGeom>
          <a:solidFill>
            <a:srgbClr val="FFA94D">
              <a:alpha val="50000"/>
            </a:srgbClr>
          </a:solidFill>
          <a:ln w="12700">
            <a:solidFill>
              <a:srgbClr val="FFA94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6" name="Text 15"/>
          <p:cNvSpPr txBox="1"/>
          <p:nvPr/>
        </p:nvSpPr>
        <p:spPr>
          <a:xfrm>
            <a:off x="5897879" y="2660649"/>
            <a:ext cx="100584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q_3</a:t>
            </a:r>
          </a:p>
        </p:txBody>
      </p:sp>
      <p:sp>
        <p:nvSpPr>
          <p:cNvPr id="357" name="Shape 16"/>
          <p:cNvSpPr/>
          <p:nvPr/>
        </p:nvSpPr>
        <p:spPr>
          <a:xfrm>
            <a:off x="6949440" y="2788920"/>
            <a:ext cx="2286001" cy="45720"/>
          </a:xfrm>
          <a:prstGeom prst="line">
            <a:avLst/>
          </a:prstGeom>
          <a:ln w="10160">
            <a:solidFill>
              <a:srgbClr val="64748B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8" name="Shape 17"/>
          <p:cNvSpPr/>
          <p:nvPr/>
        </p:nvSpPr>
        <p:spPr>
          <a:xfrm>
            <a:off x="5852159" y="3017520"/>
            <a:ext cx="1097281" cy="365761"/>
          </a:xfrm>
          <a:prstGeom prst="rect">
            <a:avLst/>
          </a:prstGeom>
          <a:solidFill>
            <a:srgbClr val="FFA94D">
              <a:alpha val="50000"/>
            </a:srgbClr>
          </a:solidFill>
          <a:ln w="12700">
            <a:solidFill>
              <a:srgbClr val="FFA94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9" name="Text 18"/>
          <p:cNvSpPr txBox="1"/>
          <p:nvPr/>
        </p:nvSpPr>
        <p:spPr>
          <a:xfrm>
            <a:off x="5897879" y="3072130"/>
            <a:ext cx="100584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q_4</a:t>
            </a:r>
          </a:p>
        </p:txBody>
      </p:sp>
      <p:sp>
        <p:nvSpPr>
          <p:cNvPr id="360" name="Shape 19"/>
          <p:cNvSpPr/>
          <p:nvPr/>
        </p:nvSpPr>
        <p:spPr>
          <a:xfrm flipV="1">
            <a:off x="6949440" y="2834639"/>
            <a:ext cx="2286001" cy="365761"/>
          </a:xfrm>
          <a:prstGeom prst="line">
            <a:avLst/>
          </a:prstGeom>
          <a:ln w="10160">
            <a:solidFill>
              <a:srgbClr val="64748B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1" name="Shape 20"/>
          <p:cNvSpPr/>
          <p:nvPr/>
        </p:nvSpPr>
        <p:spPr>
          <a:xfrm>
            <a:off x="5852159" y="3429000"/>
            <a:ext cx="1097281" cy="365761"/>
          </a:xfrm>
          <a:prstGeom prst="rect">
            <a:avLst/>
          </a:prstGeom>
          <a:solidFill>
            <a:srgbClr val="FFA94D">
              <a:alpha val="50000"/>
            </a:srgbClr>
          </a:solidFill>
          <a:ln w="12700">
            <a:solidFill>
              <a:srgbClr val="FFA94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2" name="Text 21"/>
          <p:cNvSpPr txBox="1"/>
          <p:nvPr/>
        </p:nvSpPr>
        <p:spPr>
          <a:xfrm>
            <a:off x="5897879" y="3483609"/>
            <a:ext cx="100584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q_5</a:t>
            </a:r>
          </a:p>
        </p:txBody>
      </p:sp>
      <p:sp>
        <p:nvSpPr>
          <p:cNvPr id="363" name="Shape 22"/>
          <p:cNvSpPr/>
          <p:nvPr/>
        </p:nvSpPr>
        <p:spPr>
          <a:xfrm flipV="1">
            <a:off x="6949440" y="2830829"/>
            <a:ext cx="2286001" cy="781052"/>
          </a:xfrm>
          <a:prstGeom prst="line">
            <a:avLst/>
          </a:prstGeom>
          <a:ln w="10160">
            <a:solidFill>
              <a:srgbClr val="64748B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4" name="Shape 23"/>
          <p:cNvSpPr/>
          <p:nvPr/>
        </p:nvSpPr>
        <p:spPr>
          <a:xfrm>
            <a:off x="5852159" y="3840479"/>
            <a:ext cx="1097281" cy="365761"/>
          </a:xfrm>
          <a:prstGeom prst="rect">
            <a:avLst/>
          </a:prstGeom>
          <a:solidFill>
            <a:srgbClr val="FFA94D">
              <a:alpha val="50000"/>
            </a:srgbClr>
          </a:solidFill>
          <a:ln w="12700">
            <a:solidFill>
              <a:srgbClr val="FFA94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5" name="Text 24"/>
          <p:cNvSpPr txBox="1"/>
          <p:nvPr/>
        </p:nvSpPr>
        <p:spPr>
          <a:xfrm>
            <a:off x="5897879" y="3895089"/>
            <a:ext cx="100584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q_6</a:t>
            </a:r>
          </a:p>
        </p:txBody>
      </p:sp>
      <p:sp>
        <p:nvSpPr>
          <p:cNvPr id="366" name="Shape 25"/>
          <p:cNvSpPr/>
          <p:nvPr/>
        </p:nvSpPr>
        <p:spPr>
          <a:xfrm flipV="1">
            <a:off x="6949440" y="2834640"/>
            <a:ext cx="2286001" cy="1188720"/>
          </a:xfrm>
          <a:prstGeom prst="line">
            <a:avLst/>
          </a:prstGeom>
          <a:ln w="10160">
            <a:solidFill>
              <a:srgbClr val="64748B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7" name="Shape 26"/>
          <p:cNvSpPr/>
          <p:nvPr/>
        </p:nvSpPr>
        <p:spPr>
          <a:xfrm>
            <a:off x="5852159" y="4251959"/>
            <a:ext cx="1097281" cy="365761"/>
          </a:xfrm>
          <a:prstGeom prst="rect">
            <a:avLst/>
          </a:prstGeom>
          <a:solidFill>
            <a:srgbClr val="FFA94D">
              <a:alpha val="50000"/>
            </a:srgbClr>
          </a:solidFill>
          <a:ln w="12700">
            <a:solidFill>
              <a:srgbClr val="FFA94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8" name="Text 27"/>
          <p:cNvSpPr txBox="1"/>
          <p:nvPr/>
        </p:nvSpPr>
        <p:spPr>
          <a:xfrm>
            <a:off x="5897879" y="4306569"/>
            <a:ext cx="100584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q_63</a:t>
            </a:r>
          </a:p>
        </p:txBody>
      </p:sp>
      <p:sp>
        <p:nvSpPr>
          <p:cNvPr id="369" name="Shape 28"/>
          <p:cNvSpPr/>
          <p:nvPr/>
        </p:nvSpPr>
        <p:spPr>
          <a:xfrm flipV="1">
            <a:off x="6949441" y="2830829"/>
            <a:ext cx="2285999" cy="1604012"/>
          </a:xfrm>
          <a:prstGeom prst="line">
            <a:avLst/>
          </a:prstGeom>
          <a:ln w="10160">
            <a:solidFill>
              <a:srgbClr val="64748B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0" name="Text 29"/>
          <p:cNvSpPr txBox="1"/>
          <p:nvPr/>
        </p:nvSpPr>
        <p:spPr>
          <a:xfrm>
            <a:off x="5623560" y="4698999"/>
            <a:ext cx="15544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1100">
                <a:solidFill>
                  <a:srgbClr val="64748B"/>
                </a:solidFill>
              </a:defRPr>
            </a:lvl1pPr>
          </a:lstStyle>
          <a:p>
            <a:pPr/>
            <a:r>
              <a:t>(共 64 个 q 头)</a:t>
            </a:r>
          </a:p>
        </p:txBody>
      </p:sp>
      <p:sp>
        <p:nvSpPr>
          <p:cNvPr id="371" name="Shape 30"/>
          <p:cNvSpPr/>
          <p:nvPr/>
        </p:nvSpPr>
        <p:spPr>
          <a:xfrm>
            <a:off x="9509759" y="1920239"/>
            <a:ext cx="2011680" cy="2194561"/>
          </a:xfrm>
          <a:prstGeom prst="rect">
            <a:avLst/>
          </a:prstGeom>
          <a:solidFill>
            <a:srgbClr val="2EC4B6"/>
          </a:solidFill>
          <a:ln w="25400">
            <a:solidFill>
              <a:srgbClr val="1E3A5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2" name="Text 31"/>
          <p:cNvSpPr txBox="1"/>
          <p:nvPr/>
        </p:nvSpPr>
        <p:spPr>
          <a:xfrm>
            <a:off x="9555479" y="2679699"/>
            <a:ext cx="1920240" cy="67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共用 1 套</a:t>
            </a:r>
          </a:p>
          <a:p>
            <a:pPr algn="ctr">
              <a:defRPr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(K, V)</a:t>
            </a:r>
          </a:p>
        </p:txBody>
      </p:sp>
      <p:sp>
        <p:nvSpPr>
          <p:cNvPr id="373" name="Shape 32"/>
          <p:cNvSpPr/>
          <p:nvPr/>
        </p:nvSpPr>
        <p:spPr>
          <a:xfrm>
            <a:off x="548639" y="5440679"/>
            <a:ext cx="11064242" cy="868681"/>
          </a:xfrm>
          <a:prstGeom prst="rect">
            <a:avLst/>
          </a:prstGeom>
          <a:solidFill>
            <a:srgbClr val="1E3A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4" name="Shape 33"/>
          <p:cNvSpPr/>
          <p:nvPr/>
        </p:nvSpPr>
        <p:spPr>
          <a:xfrm>
            <a:off x="548640" y="5440679"/>
            <a:ext cx="137161" cy="868681"/>
          </a:xfrm>
          <a:prstGeom prst="rect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5" name="Text 34"/>
          <p:cNvSpPr txBox="1"/>
          <p:nvPr/>
        </p:nvSpPr>
        <p:spPr>
          <a:xfrm>
            <a:off x="914399" y="5695950"/>
            <a:ext cx="10607042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本算子是 MQA 极端情况: N1 = 64 个 q 头  :  N2 = 1 套 KV, gSize = 64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0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8" name="Text 1"/>
          <p:cNvSpPr txBox="1"/>
          <p:nvPr/>
        </p:nvSpPr>
        <p:spPr>
          <a:xfrm>
            <a:off x="685799" y="382270"/>
            <a:ext cx="1097280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60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第 5 章 (1/3) · softmax_scale — 为啥要先乘个小数</a:t>
            </a:r>
          </a:p>
        </p:txBody>
      </p:sp>
      <p:sp>
        <p:nvSpPr>
          <p:cNvPr id="379" name="Shape 2"/>
          <p:cNvSpPr/>
          <p:nvPr/>
        </p:nvSpPr>
        <p:spPr>
          <a:xfrm>
            <a:off x="548639" y="1188719"/>
            <a:ext cx="11064242" cy="1280162"/>
          </a:xfrm>
          <a:prstGeom prst="rect">
            <a:avLst/>
          </a:prstGeom>
          <a:solidFill>
            <a:srgbClr val="FF6B6B">
              <a:alpha val="20000"/>
            </a:srgbClr>
          </a:solidFill>
          <a:ln w="19050">
            <a:solidFill>
              <a:srgbClr val="FF6B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0" name="Text 3"/>
          <p:cNvSpPr txBox="1"/>
          <p:nvPr/>
        </p:nvSpPr>
        <p:spPr>
          <a:xfrm>
            <a:off x="777239" y="1290320"/>
            <a:ext cx="1280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6B6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问题</a:t>
            </a:r>
          </a:p>
        </p:txBody>
      </p:sp>
      <p:sp>
        <p:nvSpPr>
          <p:cNvPr id="381" name="Text 4"/>
          <p:cNvSpPr txBox="1"/>
          <p:nvPr/>
        </p:nvSpPr>
        <p:spPr>
          <a:xfrm>
            <a:off x="777239" y="1691639"/>
            <a:ext cx="10607041" cy="6386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solidFill>
                  <a:srgbClr val="1A2332"/>
                </a:solidFill>
              </a:defRPr>
            </a:pPr>
            <a:r>
              <a:t>scores 数值波动大 (D=512 时可能几百几千), softmax 对大数极敏感。</a:t>
            </a:r>
          </a:p>
          <a:p>
            <a:pPr>
              <a:defRPr sz="1400">
                <a:solidFill>
                  <a:srgbClr val="1A2332"/>
                </a:solidFill>
              </a:defRPr>
            </a:pPr>
            <a:r>
              <a:rPr b="1">
                <a:solidFill>
                  <a:srgbClr val="FF6B6B"/>
                </a:solidFill>
              </a:rPr>
              <a:t>exp(1000) 直接溢出爆掉。</a:t>
            </a:r>
          </a:p>
        </p:txBody>
      </p:sp>
      <p:sp>
        <p:nvSpPr>
          <p:cNvPr id="382" name="Shape 5"/>
          <p:cNvSpPr/>
          <p:nvPr/>
        </p:nvSpPr>
        <p:spPr>
          <a:xfrm>
            <a:off x="548639" y="2697479"/>
            <a:ext cx="11064242" cy="1280161"/>
          </a:xfrm>
          <a:prstGeom prst="rect">
            <a:avLst/>
          </a:prstGeom>
          <a:solidFill>
            <a:srgbClr val="2EC4B6">
              <a:alpha val="20000"/>
            </a:srgbClr>
          </a:solidFill>
          <a:ln w="1905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3" name="Text 6"/>
          <p:cNvSpPr txBox="1"/>
          <p:nvPr/>
        </p:nvSpPr>
        <p:spPr>
          <a:xfrm>
            <a:off x="777239" y="2799079"/>
            <a:ext cx="1280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解决</a:t>
            </a:r>
          </a:p>
        </p:txBody>
      </p:sp>
      <p:sp>
        <p:nvSpPr>
          <p:cNvPr id="384" name="Text 7"/>
          <p:cNvSpPr txBox="1"/>
          <p:nvPr/>
        </p:nvSpPr>
        <p:spPr>
          <a:xfrm>
            <a:off x="777239" y="3108960"/>
            <a:ext cx="10607041" cy="6132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solidFill>
                  <a:srgbClr val="1A2332"/>
                </a:solidFill>
              </a:defRPr>
            </a:pPr>
            <a:r>
              <a:t>scores 先乘 </a:t>
            </a:r>
            <a:r>
              <a:rPr b="1">
                <a:solidFill>
                  <a:srgbClr val="2EC4B6"/>
                </a:solidFill>
                <a:latin typeface="Consolas"/>
                <a:ea typeface="Consolas"/>
                <a:cs typeface="Consolas"/>
                <a:sym typeface="Consolas"/>
              </a:rPr>
              <a:t>softmax_scale ≈ 1/√D</a:t>
            </a:r>
            <a:r>
              <a:t>, 把分数压到合理范围 (大约 ±10 以内)。</a:t>
            </a:r>
          </a:p>
          <a:p>
            <a:pPr>
              <a:defRPr sz="1400">
                <a:solidFill>
                  <a:srgbClr val="1A2332"/>
                </a:solidFill>
              </a:defRPr>
            </a:pPr>
            <a:r>
              <a:rPr i="1" sz="1300">
                <a:solidFill>
                  <a:srgbClr val="64748B"/>
                </a:solidFill>
              </a:rPr>
              <a:t>D=512 时, 1/√512 ≈ 0.044</a:t>
            </a:r>
          </a:p>
        </p:txBody>
      </p:sp>
      <p:sp>
        <p:nvSpPr>
          <p:cNvPr id="385" name="Shape 8"/>
          <p:cNvSpPr/>
          <p:nvPr/>
        </p:nvSpPr>
        <p:spPr>
          <a:xfrm>
            <a:off x="548639" y="4251959"/>
            <a:ext cx="11064242" cy="2011680"/>
          </a:xfrm>
          <a:prstGeom prst="rect">
            <a:avLst/>
          </a:prstGeom>
          <a:solidFill>
            <a:srgbClr val="EEF2F7"/>
          </a:solidFill>
          <a:ln w="6350">
            <a:solidFill>
              <a:srgbClr val="6474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6" name="Text 9"/>
          <p:cNvSpPr txBox="1"/>
          <p:nvPr/>
        </p:nvSpPr>
        <p:spPr>
          <a:xfrm>
            <a:off x="777239" y="4304029"/>
            <a:ext cx="35661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64748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代码示意</a:t>
            </a:r>
          </a:p>
        </p:txBody>
      </p:sp>
      <p:sp>
        <p:nvSpPr>
          <p:cNvPr id="387" name="Text 10"/>
          <p:cNvSpPr txBox="1"/>
          <p:nvPr/>
        </p:nvSpPr>
        <p:spPr>
          <a:xfrm>
            <a:off x="822959" y="4663440"/>
            <a:ext cx="10515601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scores  = (q @ K.T) * softmax_scale    </a:t>
            </a:r>
            <a:r>
              <a:rPr i="1">
                <a:solidFill>
                  <a:srgbClr val="64748B"/>
                </a:solidFill>
              </a:rPr>
              <a:t># softmax_scale = 1/sqrt(D) ≈ 0.044 (D=512)</a:t>
            </a:r>
            <a:endParaRPr i="1">
              <a:solidFill>
                <a:srgbClr val="64748B"/>
              </a:solidFill>
            </a:endParaRPr>
          </a:p>
          <a:p>
            <a:pPr>
              <a:defRPr sz="13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weights = softmax(scores)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Shape 0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0" name="Text 1"/>
          <p:cNvSpPr txBox="1"/>
          <p:nvPr/>
        </p:nvSpPr>
        <p:spPr>
          <a:xfrm>
            <a:off x="685799" y="382270"/>
            <a:ext cx="1097280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60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第 5 章 (2/3) · mask_mode — 哪些 token 不能看</a:t>
            </a:r>
          </a:p>
        </p:txBody>
      </p:sp>
      <p:sp>
        <p:nvSpPr>
          <p:cNvPr id="391" name="Shape 2"/>
          <p:cNvSpPr/>
          <p:nvPr/>
        </p:nvSpPr>
        <p:spPr>
          <a:xfrm>
            <a:off x="548640" y="1188719"/>
            <a:ext cx="5440680" cy="2468881"/>
          </a:xfrm>
          <a:prstGeom prst="rect">
            <a:avLst/>
          </a:prstGeom>
          <a:solidFill>
            <a:srgbClr val="F7F9FC"/>
          </a:solidFill>
          <a:ln w="19050">
            <a:solidFill>
              <a:srgbClr val="FF6B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2" name="Shape 3"/>
          <p:cNvSpPr/>
          <p:nvPr/>
        </p:nvSpPr>
        <p:spPr>
          <a:xfrm>
            <a:off x="548640" y="1188719"/>
            <a:ext cx="5440680" cy="548641"/>
          </a:xfrm>
          <a:prstGeom prst="rect">
            <a:avLst/>
          </a:prstGeom>
          <a:solidFill>
            <a:srgbClr val="FF6B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3" name="Text 4"/>
          <p:cNvSpPr txBox="1"/>
          <p:nvPr/>
        </p:nvSpPr>
        <p:spPr>
          <a:xfrm>
            <a:off x="594360" y="1283969"/>
            <a:ext cx="5349240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因果屏蔽 (causal mask)</a:t>
            </a:r>
          </a:p>
        </p:txBody>
      </p:sp>
      <p:sp>
        <p:nvSpPr>
          <p:cNvPr id="394" name="Text 5"/>
          <p:cNvSpPr txBox="1"/>
          <p:nvPr/>
        </p:nvSpPr>
        <p:spPr>
          <a:xfrm>
            <a:off x="777239" y="1828800"/>
            <a:ext cx="5029201" cy="788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1A2332"/>
                </a:solidFill>
              </a:defRPr>
            </a:pPr>
            <a:r>
              <a:t>生成时不能看「未来」token (作弊)。</a:t>
            </a:r>
          </a:p>
          <a:p>
            <a:pPr>
              <a:defRPr sz="1300">
                <a:solidFill>
                  <a:srgbClr val="1A2332"/>
                </a:solidFill>
              </a:defRPr>
            </a:pPr>
          </a:p>
          <a:p>
            <a:pPr>
              <a:defRPr sz="1300">
                <a:solidFill>
                  <a:srgbClr val="1A2332"/>
                </a:solidFill>
              </a:defRPr>
            </a:pPr>
            <a:r>
              <a:rPr b="1">
                <a:solidFill>
                  <a:srgbClr val="FF6B6B"/>
                </a:solidFill>
              </a:rPr>
              <a:t>做法: </a:t>
            </a:r>
            <a:r>
              <a:t>把未来 token 的 score 设为 </a:t>
            </a:r>
            <a:r>
              <a:rPr b="1">
                <a:solidFill>
                  <a:srgbClr val="FF6B6B"/>
                </a:solidFill>
              </a:rPr>
              <a:t>-∞</a:t>
            </a:r>
            <a:r>
              <a:t>, softmax 后权重就是 0。</a:t>
            </a:r>
          </a:p>
        </p:txBody>
      </p:sp>
      <p:sp>
        <p:nvSpPr>
          <p:cNvPr id="395" name="Shape 6"/>
          <p:cNvSpPr/>
          <p:nvPr/>
        </p:nvSpPr>
        <p:spPr>
          <a:xfrm>
            <a:off x="6172200" y="1188719"/>
            <a:ext cx="5440680" cy="2468881"/>
          </a:xfrm>
          <a:prstGeom prst="rect">
            <a:avLst/>
          </a:prstGeom>
          <a:solidFill>
            <a:srgbClr val="F7F9FC"/>
          </a:solidFill>
          <a:ln w="1905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6" name="Shape 7"/>
          <p:cNvSpPr/>
          <p:nvPr/>
        </p:nvSpPr>
        <p:spPr>
          <a:xfrm>
            <a:off x="6172200" y="1188719"/>
            <a:ext cx="5440680" cy="548641"/>
          </a:xfrm>
          <a:prstGeom prst="rect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7" name="Text 8"/>
          <p:cNvSpPr txBox="1"/>
          <p:nvPr/>
        </p:nvSpPr>
        <p:spPr>
          <a:xfrm>
            <a:off x="6217920" y="1283969"/>
            <a:ext cx="5349240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滑窗屏蔽</a:t>
            </a:r>
          </a:p>
        </p:txBody>
      </p:sp>
      <p:sp>
        <p:nvSpPr>
          <p:cNvPr id="398" name="Text 9"/>
          <p:cNvSpPr txBox="1"/>
          <p:nvPr/>
        </p:nvSpPr>
        <p:spPr>
          <a:xfrm>
            <a:off x="6400800" y="1828800"/>
            <a:ext cx="5029200" cy="788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1A2332"/>
                </a:solidFill>
              </a:defRPr>
            </a:pPr>
            <a:r>
              <a:t>只看最近 W 个, 超出窗口范围的也设为 </a:t>
            </a:r>
            <a:r>
              <a:rPr b="1">
                <a:solidFill>
                  <a:srgbClr val="2EC4B6"/>
                </a:solidFill>
              </a:rPr>
              <a:t>-∞</a:t>
            </a:r>
            <a:r>
              <a:t>。</a:t>
            </a:r>
          </a:p>
          <a:p>
            <a:pPr>
              <a:defRPr sz="1300">
                <a:solidFill>
                  <a:srgbClr val="1A2332"/>
                </a:solidFill>
              </a:defRPr>
            </a:pPr>
          </a:p>
          <a:p>
            <a:pPr>
              <a:defRPr sz="1300">
                <a:solidFill>
                  <a:srgbClr val="1A2332"/>
                </a:solidFill>
              </a:defRPr>
            </a:pPr>
            <a:r>
              <a:rPr i="1"/>
              <a:t>结合「因果」+「滑窗」 = 只看「过去 W 个」。</a:t>
            </a:r>
          </a:p>
        </p:txBody>
      </p:sp>
      <p:sp>
        <p:nvSpPr>
          <p:cNvPr id="399" name="Shape 10"/>
          <p:cNvSpPr/>
          <p:nvPr/>
        </p:nvSpPr>
        <p:spPr>
          <a:xfrm>
            <a:off x="548639" y="3840479"/>
            <a:ext cx="11064242" cy="1097281"/>
          </a:xfrm>
          <a:prstGeom prst="rect">
            <a:avLst/>
          </a:prstGeom>
          <a:solidFill>
            <a:srgbClr val="EEF2F7"/>
          </a:solidFill>
          <a:ln w="6350">
            <a:solidFill>
              <a:srgbClr val="6474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0" name="Text 11"/>
          <p:cNvSpPr txBox="1"/>
          <p:nvPr/>
        </p:nvSpPr>
        <p:spPr>
          <a:xfrm>
            <a:off x="777239" y="3892550"/>
            <a:ext cx="35661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64748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可见区间公式</a:t>
            </a:r>
          </a:p>
        </p:txBody>
      </p:sp>
      <p:sp>
        <p:nvSpPr>
          <p:cNvPr id="401" name="Text 12"/>
          <p:cNvSpPr txBox="1"/>
          <p:nvPr/>
        </p:nvSpPr>
        <p:spPr>
          <a:xfrm>
            <a:off x="777239" y="4399280"/>
            <a:ext cx="106070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对位置 pos 的 q, 可见区间 = [ max(pos - ori_win_left, 0), pos + ori_win_right ]</a:t>
            </a:r>
          </a:p>
        </p:txBody>
      </p:sp>
      <p:sp>
        <p:nvSpPr>
          <p:cNvPr id="402" name="Shape 13"/>
          <p:cNvSpPr/>
          <p:nvPr/>
        </p:nvSpPr>
        <p:spPr>
          <a:xfrm>
            <a:off x="548639" y="5120640"/>
            <a:ext cx="11064242" cy="1143001"/>
          </a:xfrm>
          <a:prstGeom prst="rect">
            <a:avLst/>
          </a:prstGeom>
          <a:solidFill>
            <a:srgbClr val="1E3A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3" name="Shape 14"/>
          <p:cNvSpPr/>
          <p:nvPr/>
        </p:nvSpPr>
        <p:spPr>
          <a:xfrm>
            <a:off x="548640" y="5120640"/>
            <a:ext cx="137161" cy="1143001"/>
          </a:xfrm>
          <a:prstGeom prst="rect">
            <a:avLst/>
          </a:prstGeom>
          <a:solidFill>
            <a:srgbClr val="FFA9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4" name="Text 15"/>
          <p:cNvSpPr txBox="1"/>
          <p:nvPr/>
        </p:nvSpPr>
        <p:spPr>
          <a:xfrm>
            <a:off x="914400" y="5519420"/>
            <a:ext cx="1056132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默认参数: ori_win_left = 127, ori_win_right = 0  →  看「自己 + 过去 127 个」 = 共 128 个 token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Shape 0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7" name="Text 1"/>
          <p:cNvSpPr txBox="1"/>
          <p:nvPr/>
        </p:nvSpPr>
        <p:spPr>
          <a:xfrm>
            <a:off x="685799" y="382270"/>
            <a:ext cx="1097280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60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第 5 章 (3/3) · Attention Sinks — softmax 的逃生出口</a:t>
            </a:r>
          </a:p>
        </p:txBody>
      </p:sp>
      <p:sp>
        <p:nvSpPr>
          <p:cNvPr id="408" name="Shape 2"/>
          <p:cNvSpPr/>
          <p:nvPr/>
        </p:nvSpPr>
        <p:spPr>
          <a:xfrm>
            <a:off x="548639" y="1188719"/>
            <a:ext cx="11064242" cy="960121"/>
          </a:xfrm>
          <a:prstGeom prst="rect">
            <a:avLst/>
          </a:prstGeom>
          <a:solidFill>
            <a:srgbClr val="FF6B6B">
              <a:alpha val="15000"/>
            </a:srgbClr>
          </a:solidFill>
          <a:ln w="19050">
            <a:solidFill>
              <a:srgbClr val="FF6B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9" name="Text 3"/>
          <p:cNvSpPr txBox="1"/>
          <p:nvPr/>
        </p:nvSpPr>
        <p:spPr>
          <a:xfrm>
            <a:off x="777239" y="1531619"/>
            <a:ext cx="10607041" cy="3200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300">
                <a:solidFill>
                  <a:srgbClr val="FF6B6B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问题  </a:t>
            </a:r>
            <a:r>
              <a:rPr>
                <a:solidFill>
                  <a:srgbClr val="1A2332"/>
                </a:solidFill>
                <a:latin typeface="+mj-lt"/>
                <a:ea typeface="+mj-ea"/>
                <a:cs typeface="+mj-cs"/>
                <a:sym typeface="Calibri"/>
              </a:rPr>
              <a:t>softmax 强制权重和 = 1。如果 q 跟所有历史都不相关, 本应「什么都不看」, 但被迫挑一个, 造成噪声。</a:t>
            </a:r>
          </a:p>
        </p:txBody>
      </p:sp>
      <p:sp>
        <p:nvSpPr>
          <p:cNvPr id="410" name="Shape 4"/>
          <p:cNvSpPr/>
          <p:nvPr/>
        </p:nvSpPr>
        <p:spPr>
          <a:xfrm>
            <a:off x="548639" y="2286000"/>
            <a:ext cx="11064242" cy="960120"/>
          </a:xfrm>
          <a:prstGeom prst="rect">
            <a:avLst/>
          </a:prstGeom>
          <a:solidFill>
            <a:srgbClr val="2EC4B6">
              <a:alpha val="15000"/>
            </a:srgbClr>
          </a:solidFill>
          <a:ln w="1905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1" name="Text 5"/>
          <p:cNvSpPr txBox="1"/>
          <p:nvPr/>
        </p:nvSpPr>
        <p:spPr>
          <a:xfrm>
            <a:off x="777239" y="2628899"/>
            <a:ext cx="10607041" cy="3200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300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解决  </a:t>
            </a:r>
            <a:r>
              <a:rPr>
                <a:solidFill>
                  <a:srgbClr val="1A2332"/>
                </a:solidFill>
                <a:latin typeface="+mj-lt"/>
                <a:ea typeface="+mj-ea"/>
                <a:cs typeface="+mj-cs"/>
                <a:sym typeface="Calibri"/>
              </a:rPr>
              <a:t>加一个「虚拟 sink token」, 让「不相关」的权重跑到 sink 上去, 真实 V 那边的权重自然会变小。</a:t>
            </a:r>
          </a:p>
        </p:txBody>
      </p:sp>
      <p:sp>
        <p:nvSpPr>
          <p:cNvPr id="412" name="Shape 6"/>
          <p:cNvSpPr/>
          <p:nvPr/>
        </p:nvSpPr>
        <p:spPr>
          <a:xfrm>
            <a:off x="548639" y="3383279"/>
            <a:ext cx="11064242" cy="2286001"/>
          </a:xfrm>
          <a:prstGeom prst="rect">
            <a:avLst/>
          </a:prstGeom>
          <a:solidFill>
            <a:srgbClr val="EEF2F7"/>
          </a:solidFill>
          <a:ln w="6350">
            <a:solidFill>
              <a:srgbClr val="6474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3" name="Text 7"/>
          <p:cNvSpPr txBox="1"/>
          <p:nvPr/>
        </p:nvSpPr>
        <p:spPr>
          <a:xfrm>
            <a:off x="822959" y="3520440"/>
            <a:ext cx="10515601" cy="1234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real_scores  = (q @ K.T) * scale              </a:t>
            </a:r>
            <a:r>
              <a:rPr i="1">
                <a:solidFill>
                  <a:srgbClr val="64748B"/>
                </a:solidFill>
              </a:rPr>
              <a:t># shape (N,)</a:t>
            </a:r>
            <a:endParaRPr i="1">
              <a:solidFill>
                <a:srgbClr val="64748B"/>
              </a:solidFill>
            </a:endParaRPr>
          </a:p>
          <a:p>
            <a:pPr>
              <a:defRPr sz="12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all_scores   = concat(real_scores, [sink])    </a:t>
            </a:r>
            <a:r>
              <a:rPr i="1">
                <a:solidFill>
                  <a:srgbClr val="64748B"/>
                </a:solidFill>
              </a:rPr>
              <a:t># shape (N+1,)</a:t>
            </a:r>
            <a:endParaRPr i="1">
              <a:solidFill>
                <a:srgbClr val="64748B"/>
              </a:solidFill>
            </a:endParaRPr>
          </a:p>
          <a:p>
            <a:pPr>
              <a:defRPr sz="12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weights      = softmax(all_scores)            </a:t>
            </a:r>
            <a:r>
              <a:rPr i="1">
                <a:solidFill>
                  <a:srgbClr val="64748B"/>
                </a:solidFill>
              </a:rPr>
              <a:t># shape (N+1,)</a:t>
            </a:r>
            <a:endParaRPr i="1">
              <a:solidFill>
                <a:srgbClr val="64748B"/>
              </a:solidFill>
            </a:endParaRPr>
          </a:p>
          <a:p>
            <a:pPr>
              <a:defRPr sz="12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real_weights = weights[:N]                    </a:t>
            </a:r>
            <a:r>
              <a:rPr i="1">
                <a:solidFill>
                  <a:srgbClr val="64748B"/>
                </a:solidFill>
              </a:rPr>
              <a:t># 丢掉 sink 那一位</a:t>
            </a:r>
            <a:endParaRPr i="1">
              <a:solidFill>
                <a:srgbClr val="64748B"/>
              </a:solidFill>
            </a:endParaRPr>
          </a:p>
          <a:p>
            <a:pPr>
              <a:defRPr sz="12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output       = real_weights @ V              </a:t>
            </a:r>
            <a:r>
              <a:rPr i="1">
                <a:solidFill>
                  <a:srgbClr val="64748B"/>
                </a:solidFill>
              </a:rPr>
              <a:t># 注意 weights 之和 &lt; 1</a:t>
            </a:r>
            <a:endParaRPr i="1">
              <a:solidFill>
                <a:srgbClr val="64748B"/>
              </a:solidFill>
            </a:endParaRPr>
          </a:p>
        </p:txBody>
      </p:sp>
      <p:sp>
        <p:nvSpPr>
          <p:cNvPr id="414" name="Shape 8"/>
          <p:cNvSpPr/>
          <p:nvPr/>
        </p:nvSpPr>
        <p:spPr>
          <a:xfrm>
            <a:off x="548639" y="5852159"/>
            <a:ext cx="11064242" cy="548641"/>
          </a:xfrm>
          <a:prstGeom prst="rect">
            <a:avLst/>
          </a:prstGeom>
          <a:solidFill>
            <a:srgbClr val="1E3A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5" name="Shape 9"/>
          <p:cNvSpPr/>
          <p:nvPr/>
        </p:nvSpPr>
        <p:spPr>
          <a:xfrm>
            <a:off x="548640" y="5852159"/>
            <a:ext cx="137161" cy="548641"/>
          </a:xfrm>
          <a:prstGeom prst="rect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6" name="Text 10"/>
          <p:cNvSpPr txBox="1"/>
          <p:nvPr/>
        </p:nvSpPr>
        <p:spPr>
          <a:xfrm>
            <a:off x="914400" y="5966459"/>
            <a:ext cx="10561320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说明: 每个 q head 一个 sink 值, 共 64 个 sink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9" name="Text 1"/>
          <p:cNvSpPr txBox="1"/>
          <p:nvPr/>
        </p:nvSpPr>
        <p:spPr>
          <a:xfrm>
            <a:off x="685799" y="382270"/>
            <a:ext cx="1097280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60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第 6 章 (1/4) · 完整算法 — 数据流图</a:t>
            </a:r>
          </a:p>
        </p:txBody>
      </p:sp>
      <p:sp>
        <p:nvSpPr>
          <p:cNvPr id="420" name="Shape 2"/>
          <p:cNvSpPr/>
          <p:nvPr/>
        </p:nvSpPr>
        <p:spPr>
          <a:xfrm>
            <a:off x="914399" y="1143000"/>
            <a:ext cx="10332722" cy="822961"/>
          </a:xfrm>
          <a:prstGeom prst="rect">
            <a:avLst/>
          </a:prstGeom>
          <a:solidFill>
            <a:srgbClr val="FFA9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1" name="Text 3"/>
          <p:cNvSpPr txBox="1"/>
          <p:nvPr/>
        </p:nvSpPr>
        <p:spPr>
          <a:xfrm>
            <a:off x="960119" y="1394460"/>
            <a:ext cx="1024128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Input:  q (当前)  +  ori_kv (近处 128)  +  cmp_kv (远处压缩)  +  cmp_sparse_indices  +  sinks</a:t>
            </a:r>
          </a:p>
        </p:txBody>
      </p:sp>
      <p:sp>
        <p:nvSpPr>
          <p:cNvPr id="422" name="Shape 4"/>
          <p:cNvSpPr/>
          <p:nvPr/>
        </p:nvSpPr>
        <p:spPr>
          <a:xfrm>
            <a:off x="6080759" y="2011679"/>
            <a:ext cx="1" cy="228601"/>
          </a:xfrm>
          <a:prstGeom prst="line">
            <a:avLst/>
          </a:prstGeom>
          <a:ln w="31750">
            <a:solidFill>
              <a:srgbClr val="64748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23" name="Shape 5"/>
          <p:cNvSpPr/>
          <p:nvPr/>
        </p:nvSpPr>
        <p:spPr>
          <a:xfrm>
            <a:off x="914399" y="2286000"/>
            <a:ext cx="10332722" cy="685800"/>
          </a:xfrm>
          <a:prstGeom prst="rect">
            <a:avLst/>
          </a:prstGeom>
          <a:solidFill>
            <a:srgbClr val="F7F9FC"/>
          </a:solidFill>
          <a:ln w="1905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4" name="Shape 6"/>
          <p:cNvSpPr/>
          <p:nvPr/>
        </p:nvSpPr>
        <p:spPr>
          <a:xfrm>
            <a:off x="914400" y="2286000"/>
            <a:ext cx="1280161" cy="685800"/>
          </a:xfrm>
          <a:prstGeom prst="rect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5" name="Text 7"/>
          <p:cNvSpPr txBox="1"/>
          <p:nvPr/>
        </p:nvSpPr>
        <p:spPr>
          <a:xfrm>
            <a:off x="960119" y="2487929"/>
            <a:ext cx="1188722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Step 1</a:t>
            </a:r>
          </a:p>
        </p:txBody>
      </p:sp>
      <p:sp>
        <p:nvSpPr>
          <p:cNvPr id="426" name="Text 8"/>
          <p:cNvSpPr txBox="1"/>
          <p:nvPr/>
        </p:nvSpPr>
        <p:spPr>
          <a:xfrm>
            <a:off x="2423159" y="2468879"/>
            <a:ext cx="868680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找出可见 KV 集合 (滑窗 + 稀疏过滤 + 因果)</a:t>
            </a:r>
          </a:p>
        </p:txBody>
      </p:sp>
      <p:sp>
        <p:nvSpPr>
          <p:cNvPr id="427" name="Shape 9"/>
          <p:cNvSpPr/>
          <p:nvPr/>
        </p:nvSpPr>
        <p:spPr>
          <a:xfrm>
            <a:off x="6080759" y="2999231"/>
            <a:ext cx="1" cy="164593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28" name="Shape 10"/>
          <p:cNvSpPr/>
          <p:nvPr/>
        </p:nvSpPr>
        <p:spPr>
          <a:xfrm>
            <a:off x="914399" y="3163823"/>
            <a:ext cx="10332722" cy="685801"/>
          </a:xfrm>
          <a:prstGeom prst="rect">
            <a:avLst/>
          </a:prstGeom>
          <a:solidFill>
            <a:srgbClr val="F7F9FC"/>
          </a:solidFill>
          <a:ln w="19050">
            <a:solidFill>
              <a:srgbClr val="FF6B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9" name="Shape 11"/>
          <p:cNvSpPr/>
          <p:nvPr/>
        </p:nvSpPr>
        <p:spPr>
          <a:xfrm>
            <a:off x="914400" y="3163823"/>
            <a:ext cx="1280161" cy="685801"/>
          </a:xfrm>
          <a:prstGeom prst="rect">
            <a:avLst/>
          </a:prstGeom>
          <a:solidFill>
            <a:srgbClr val="FF6B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0" name="Text 12"/>
          <p:cNvSpPr txBox="1"/>
          <p:nvPr/>
        </p:nvSpPr>
        <p:spPr>
          <a:xfrm>
            <a:off x="960119" y="3365753"/>
            <a:ext cx="1188722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Step 2</a:t>
            </a:r>
          </a:p>
        </p:txBody>
      </p:sp>
      <p:sp>
        <p:nvSpPr>
          <p:cNvPr id="431" name="Text 13"/>
          <p:cNvSpPr txBox="1"/>
          <p:nvPr/>
        </p:nvSpPr>
        <p:spPr>
          <a:xfrm>
            <a:off x="2423159" y="3359403"/>
            <a:ext cx="868680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scores = q @ K.T * softmax_scale</a:t>
            </a:r>
          </a:p>
        </p:txBody>
      </p:sp>
      <p:sp>
        <p:nvSpPr>
          <p:cNvPr id="432" name="Shape 14"/>
          <p:cNvSpPr/>
          <p:nvPr/>
        </p:nvSpPr>
        <p:spPr>
          <a:xfrm>
            <a:off x="6080759" y="3877056"/>
            <a:ext cx="1" cy="164593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33" name="Shape 15"/>
          <p:cNvSpPr/>
          <p:nvPr/>
        </p:nvSpPr>
        <p:spPr>
          <a:xfrm>
            <a:off x="914399" y="4041647"/>
            <a:ext cx="10332722" cy="685801"/>
          </a:xfrm>
          <a:prstGeom prst="rect">
            <a:avLst/>
          </a:prstGeom>
          <a:solidFill>
            <a:srgbClr val="F7F9FC"/>
          </a:solidFill>
          <a:ln w="19050">
            <a:solidFill>
              <a:srgbClr val="FFA94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4" name="Shape 16"/>
          <p:cNvSpPr/>
          <p:nvPr/>
        </p:nvSpPr>
        <p:spPr>
          <a:xfrm>
            <a:off x="914400" y="4041647"/>
            <a:ext cx="1280161" cy="685801"/>
          </a:xfrm>
          <a:prstGeom prst="rect">
            <a:avLst/>
          </a:prstGeom>
          <a:solidFill>
            <a:srgbClr val="FFA9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5" name="Text 17"/>
          <p:cNvSpPr txBox="1"/>
          <p:nvPr/>
        </p:nvSpPr>
        <p:spPr>
          <a:xfrm>
            <a:off x="960119" y="4243577"/>
            <a:ext cx="1188722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Step 3</a:t>
            </a:r>
          </a:p>
        </p:txBody>
      </p:sp>
      <p:sp>
        <p:nvSpPr>
          <p:cNvPr id="436" name="Text 18"/>
          <p:cNvSpPr txBox="1"/>
          <p:nvPr/>
        </p:nvSpPr>
        <p:spPr>
          <a:xfrm>
            <a:off x="2423159" y="4224527"/>
            <a:ext cx="868680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加 sink → softmax → 丢掉 sink 那一位</a:t>
            </a:r>
          </a:p>
        </p:txBody>
      </p:sp>
      <p:sp>
        <p:nvSpPr>
          <p:cNvPr id="437" name="Shape 19"/>
          <p:cNvSpPr/>
          <p:nvPr/>
        </p:nvSpPr>
        <p:spPr>
          <a:xfrm>
            <a:off x="6080759" y="4754880"/>
            <a:ext cx="1" cy="164593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38" name="Shape 20"/>
          <p:cNvSpPr/>
          <p:nvPr/>
        </p:nvSpPr>
        <p:spPr>
          <a:xfrm>
            <a:off x="914399" y="4919471"/>
            <a:ext cx="10332722" cy="685801"/>
          </a:xfrm>
          <a:prstGeom prst="rect">
            <a:avLst/>
          </a:prstGeom>
          <a:solidFill>
            <a:srgbClr val="F7F9FC"/>
          </a:solidFill>
          <a:ln w="1905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9" name="Shape 21"/>
          <p:cNvSpPr/>
          <p:nvPr/>
        </p:nvSpPr>
        <p:spPr>
          <a:xfrm>
            <a:off x="914400" y="4919471"/>
            <a:ext cx="1280161" cy="685801"/>
          </a:xfrm>
          <a:prstGeom prst="rect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0" name="Text 22"/>
          <p:cNvSpPr txBox="1"/>
          <p:nvPr/>
        </p:nvSpPr>
        <p:spPr>
          <a:xfrm>
            <a:off x="960119" y="5121401"/>
            <a:ext cx="1188722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Step 4</a:t>
            </a:r>
          </a:p>
        </p:txBody>
      </p:sp>
      <p:sp>
        <p:nvSpPr>
          <p:cNvPr id="441" name="Text 23"/>
          <p:cNvSpPr txBox="1"/>
          <p:nvPr/>
        </p:nvSpPr>
        <p:spPr>
          <a:xfrm>
            <a:off x="2423159" y="5115051"/>
            <a:ext cx="868680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output = weights @ V</a:t>
            </a:r>
          </a:p>
        </p:txBody>
      </p:sp>
      <p:sp>
        <p:nvSpPr>
          <p:cNvPr id="442" name="Shape 24"/>
          <p:cNvSpPr/>
          <p:nvPr/>
        </p:nvSpPr>
        <p:spPr>
          <a:xfrm>
            <a:off x="6080759" y="5797296"/>
            <a:ext cx="1" cy="164593"/>
          </a:xfrm>
          <a:prstGeom prst="line">
            <a:avLst/>
          </a:prstGeom>
          <a:ln w="31750">
            <a:solidFill>
              <a:srgbClr val="64748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43" name="Shape 25"/>
          <p:cNvSpPr/>
          <p:nvPr/>
        </p:nvSpPr>
        <p:spPr>
          <a:xfrm>
            <a:off x="914399" y="6025896"/>
            <a:ext cx="10332722" cy="640081"/>
          </a:xfrm>
          <a:prstGeom prst="rect">
            <a:avLst/>
          </a:prstGeom>
          <a:solidFill>
            <a:srgbClr val="1E3A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4" name="Text 26"/>
          <p:cNvSpPr txBox="1"/>
          <p:nvPr/>
        </p:nvSpPr>
        <p:spPr>
          <a:xfrm>
            <a:off x="960119" y="6173216"/>
            <a:ext cx="10241282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Output:  attention 输出向量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Shape 0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7" name="Text 1"/>
          <p:cNvSpPr txBox="1"/>
          <p:nvPr/>
        </p:nvSpPr>
        <p:spPr>
          <a:xfrm>
            <a:off x="685799" y="382270"/>
            <a:ext cx="1097280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60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第 6 章 (2/4) · numpy 参考实现 (核心数学)</a:t>
            </a:r>
          </a:p>
        </p:txBody>
      </p:sp>
      <p:sp>
        <p:nvSpPr>
          <p:cNvPr id="448" name="Shape 2"/>
          <p:cNvSpPr/>
          <p:nvPr/>
        </p:nvSpPr>
        <p:spPr>
          <a:xfrm>
            <a:off x="457199" y="1142999"/>
            <a:ext cx="11247122" cy="4434842"/>
          </a:xfrm>
          <a:prstGeom prst="rect">
            <a:avLst/>
          </a:prstGeom>
          <a:solidFill>
            <a:srgbClr val="EEF2F7"/>
          </a:solidFill>
          <a:ln w="12700">
            <a:solidFill>
              <a:srgbClr val="1E3A5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9" name="Text 3"/>
          <p:cNvSpPr txBox="1"/>
          <p:nvPr/>
        </p:nvSpPr>
        <p:spPr>
          <a:xfrm>
            <a:off x="685800" y="1280160"/>
            <a:ext cx="10789920" cy="3876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100">
                <a:solidFill>
                  <a:srgbClr val="FF6B6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def </a:t>
            </a:r>
            <a:r>
              <a:rPr>
                <a:solidFill>
                  <a:srgbClr val="1E3A5F"/>
                </a:solidFill>
              </a:rPr>
              <a:t>sparse_attn_sharedkv_numpy</a:t>
            </a:r>
            <a:r>
              <a:rPr b="0">
                <a:solidFill>
                  <a:srgbClr val="1A2332"/>
                </a:solidFill>
              </a:rPr>
              <a:t>(q, ori_kv, cmp_kv, cmp_sparse_indices,</a:t>
            </a:r>
            <a:endParaRPr b="0">
              <a:solidFill>
                <a:srgbClr val="1A2332"/>
              </a:solidFill>
            </a:endParaRPr>
          </a:p>
          <a:p>
            <a:pPr>
              <a:defRPr b="1" sz="1100">
                <a:solidFill>
                  <a:srgbClr val="FF6B6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b="0">
                <a:solidFill>
                  <a:srgbClr val="1A2332"/>
                </a:solidFill>
              </a:rPr>
              <a:t>                               softmax_scale, ori_win_left, cmp_ratio):</a:t>
            </a:r>
            <a:endParaRPr b="0">
              <a:solidFill>
                <a:srgbClr val="1A2332"/>
              </a:solidFill>
            </a:endParaRPr>
          </a:p>
          <a:p>
            <a:pPr>
              <a:defRPr b="1" sz="1100">
                <a:solidFill>
                  <a:srgbClr val="FF6B6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b="0">
                <a:solidFill>
                  <a:srgbClr val="1A2332"/>
                </a:solidFill>
              </a:rPr>
              <a:t>    S1, D = q.shape</a:t>
            </a:r>
            <a:endParaRPr b="0">
              <a:solidFill>
                <a:srgbClr val="1A2332"/>
              </a:solidFill>
            </a:endParaRPr>
          </a:p>
          <a:p>
            <a:pPr>
              <a:defRPr b="1" sz="1100">
                <a:solidFill>
                  <a:srgbClr val="FF6B6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b="0">
                <a:solidFill>
                  <a:srgbClr val="1A2332"/>
                </a:solidFill>
              </a:rPr>
              <a:t>    output = np.zeros_like(q)</a:t>
            </a:r>
            <a:endParaRPr b="0">
              <a:solidFill>
                <a:srgbClr val="1A2332"/>
              </a:solidFill>
            </a:endParaRPr>
          </a:p>
          <a:p>
            <a:pPr>
              <a:defRPr b="1" sz="1100">
                <a:solidFill>
                  <a:srgbClr val="FF6B6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for </a:t>
            </a:r>
            <a:r>
              <a:rPr b="0">
                <a:solidFill>
                  <a:srgbClr val="1A2332"/>
                </a:solidFill>
              </a:rPr>
              <a:t>s1 </a:t>
            </a:r>
            <a:r>
              <a:t>in </a:t>
            </a:r>
            <a:r>
              <a:rPr b="0">
                <a:solidFill>
                  <a:srgbClr val="1A2332"/>
                </a:solidFill>
              </a:rPr>
              <a:t>range(S1):</a:t>
            </a:r>
            <a:endParaRPr b="0">
              <a:solidFill>
                <a:srgbClr val="1A2332"/>
              </a:solidFill>
            </a:endParaRPr>
          </a:p>
          <a:p>
            <a:pPr>
              <a:defRPr b="1" sz="1100">
                <a:solidFill>
                  <a:srgbClr val="FF6B6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b="0" i="1">
                <a:solidFill>
                  <a:srgbClr val="64748B"/>
                </a:solidFill>
              </a:rPr>
              <a:t>        # Step 1a: 滑窗取 ori_kv [s1-W, s1]</a:t>
            </a:r>
            <a:endParaRPr b="0" i="1">
              <a:solidFill>
                <a:srgbClr val="64748B"/>
              </a:solidFill>
            </a:endParaRPr>
          </a:p>
          <a:p>
            <a:pPr>
              <a:defRPr b="1" sz="1100">
                <a:solidFill>
                  <a:srgbClr val="FF6B6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b="0">
                <a:solidFill>
                  <a:srgbClr val="1A2332"/>
                </a:solidFill>
              </a:rPr>
              <a:t>        ori_left = max(0, s1 - ori_win_left)</a:t>
            </a:r>
            <a:endParaRPr b="0">
              <a:solidFill>
                <a:srgbClr val="1A2332"/>
              </a:solidFill>
            </a:endParaRPr>
          </a:p>
          <a:p>
            <a:pPr>
              <a:defRPr b="1" sz="1100">
                <a:solidFill>
                  <a:srgbClr val="FF6B6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b="0">
                <a:solidFill>
                  <a:srgbClr val="1A2332"/>
                </a:solidFill>
              </a:rPr>
              <a:t>        ori_visible = ori_kv[ori_left : s1 + 1]</a:t>
            </a:r>
            <a:endParaRPr b="0">
              <a:solidFill>
                <a:srgbClr val="1A2332"/>
              </a:solidFill>
            </a:endParaRPr>
          </a:p>
          <a:p>
            <a:pPr>
              <a:defRPr b="1" sz="1100">
                <a:solidFill>
                  <a:srgbClr val="FF6B6B"/>
                </a:solidFill>
                <a:latin typeface="Consolas"/>
                <a:ea typeface="Consolas"/>
                <a:cs typeface="Consolas"/>
                <a:sym typeface="Consolas"/>
              </a:defRPr>
            </a:pPr>
            <a:endParaRPr b="0">
              <a:solidFill>
                <a:srgbClr val="1A2332"/>
              </a:solidFill>
            </a:endParaRPr>
          </a:p>
          <a:p>
            <a:pPr>
              <a:defRPr b="1" sz="1100">
                <a:solidFill>
                  <a:srgbClr val="FF6B6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b="0" i="1">
                <a:solidFill>
                  <a:srgbClr val="64748B"/>
                </a:solidFill>
              </a:rPr>
              <a:t>        # Step 1b: 稀疏 + 因果, 从 cmp_kv 挑选</a:t>
            </a:r>
            <a:endParaRPr b="0" i="1">
              <a:solidFill>
                <a:srgbClr val="64748B"/>
              </a:solidFill>
            </a:endParaRPr>
          </a:p>
          <a:p>
            <a:pPr>
              <a:defRPr b="1" sz="1100">
                <a:solidFill>
                  <a:srgbClr val="FF6B6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b="0">
                <a:solidFill>
                  <a:srgbClr val="1A2332"/>
                </a:solidFill>
              </a:rPr>
              <a:t>        cmp_S2IdLimit = (s1 + 1) // cmp_ratio</a:t>
            </a:r>
            <a:endParaRPr b="0">
              <a:solidFill>
                <a:srgbClr val="1A2332"/>
              </a:solidFill>
            </a:endParaRPr>
          </a:p>
          <a:p>
            <a:pPr>
              <a:defRPr b="1" sz="1100">
                <a:solidFill>
                  <a:srgbClr val="FF6B6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b="0">
                <a:solidFill>
                  <a:srgbClr val="1A2332"/>
                </a:solidFill>
              </a:rPr>
              <a:t>        valid_cmp_idx = cmp_sparse_indices[cmp_sparse_indices &lt; cmp_S2IdLimit]</a:t>
            </a:r>
            <a:endParaRPr b="0">
              <a:solidFill>
                <a:srgbClr val="1A2332"/>
              </a:solidFill>
            </a:endParaRPr>
          </a:p>
          <a:p>
            <a:pPr>
              <a:defRPr b="1" sz="1100">
                <a:solidFill>
                  <a:srgbClr val="FF6B6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b="0">
                <a:solidFill>
                  <a:srgbClr val="1A2332"/>
                </a:solidFill>
              </a:rPr>
              <a:t>        cmp_visible   = cmp_kv[valid_cmp_idx]</a:t>
            </a:r>
            <a:endParaRPr b="0">
              <a:solidFill>
                <a:srgbClr val="1A2332"/>
              </a:solidFill>
            </a:endParaRPr>
          </a:p>
          <a:p>
            <a:pPr>
              <a:defRPr b="1" sz="1100">
                <a:solidFill>
                  <a:srgbClr val="FF6B6B"/>
                </a:solidFill>
                <a:latin typeface="Consolas"/>
                <a:ea typeface="Consolas"/>
                <a:cs typeface="Consolas"/>
                <a:sym typeface="Consolas"/>
              </a:defRPr>
            </a:pPr>
            <a:endParaRPr b="0">
              <a:solidFill>
                <a:srgbClr val="1A2332"/>
              </a:solidFill>
            </a:endParaRPr>
          </a:p>
          <a:p>
            <a:pPr>
              <a:defRPr b="1" sz="1100">
                <a:solidFill>
                  <a:srgbClr val="FF6B6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b="0" i="1">
                <a:solidFill>
                  <a:srgbClr val="64748B"/>
                </a:solidFill>
              </a:rPr>
              <a:t>        # Step 1c: 拼起来</a:t>
            </a:r>
            <a:endParaRPr b="0" i="1">
              <a:solidFill>
                <a:srgbClr val="64748B"/>
              </a:solidFill>
            </a:endParaRPr>
          </a:p>
          <a:p>
            <a:pPr>
              <a:defRPr b="1" sz="1100">
                <a:solidFill>
                  <a:srgbClr val="FF6B6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b="0">
                <a:solidFill>
                  <a:srgbClr val="1A2332"/>
                </a:solidFill>
              </a:rPr>
              <a:t>        K = np.concatenate([ori_visible, cmp_visible], axis=0)</a:t>
            </a:r>
            <a:endParaRPr b="0">
              <a:solidFill>
                <a:srgbClr val="1A2332"/>
              </a:solidFill>
            </a:endParaRPr>
          </a:p>
          <a:p>
            <a:pPr>
              <a:defRPr b="1" sz="1100">
                <a:solidFill>
                  <a:srgbClr val="FF6B6B"/>
                </a:solidFill>
                <a:latin typeface="Consolas"/>
                <a:ea typeface="Consolas"/>
                <a:cs typeface="Consolas"/>
                <a:sym typeface="Consolas"/>
              </a:defRPr>
            </a:pPr>
            <a:endParaRPr b="0">
              <a:solidFill>
                <a:srgbClr val="1A2332"/>
              </a:solidFill>
            </a:endParaRPr>
          </a:p>
          <a:p>
            <a:pPr>
              <a:defRPr b="1" sz="1100">
                <a:solidFill>
                  <a:srgbClr val="FF6B6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b="0" i="1">
                <a:solidFill>
                  <a:srgbClr val="64748B"/>
                </a:solidFill>
              </a:rPr>
              <a:t>        # Step 2~4: 标准 attention</a:t>
            </a:r>
            <a:endParaRPr b="0" i="1">
              <a:solidFill>
                <a:srgbClr val="64748B"/>
              </a:solidFill>
            </a:endParaRPr>
          </a:p>
          <a:p>
            <a:pPr>
              <a:defRPr b="1" sz="1100">
                <a:solidFill>
                  <a:srgbClr val="FF6B6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b="0">
                <a:solidFill>
                  <a:srgbClr val="1A2332"/>
                </a:solidFill>
              </a:rPr>
              <a:t>        scores  = (q[s1] @ K.T) * softmax_scale</a:t>
            </a:r>
            <a:endParaRPr b="0">
              <a:solidFill>
                <a:srgbClr val="1A2332"/>
              </a:solidFill>
            </a:endParaRPr>
          </a:p>
          <a:p>
            <a:pPr>
              <a:defRPr b="1" sz="1100">
                <a:solidFill>
                  <a:srgbClr val="FF6B6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b="0">
                <a:solidFill>
                  <a:srgbClr val="1A2332"/>
                </a:solidFill>
              </a:rPr>
              <a:t>        weights = softmax(scores, axis=-1)</a:t>
            </a:r>
            <a:endParaRPr b="0">
              <a:solidFill>
                <a:srgbClr val="1A2332"/>
              </a:solidFill>
            </a:endParaRPr>
          </a:p>
          <a:p>
            <a:pPr>
              <a:defRPr b="1" sz="1100">
                <a:solidFill>
                  <a:srgbClr val="FF6B6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b="0">
                <a:solidFill>
                  <a:srgbClr val="1A2332"/>
                </a:solidFill>
              </a:rPr>
              <a:t>        output[s1] = weights @ K</a:t>
            </a:r>
            <a:endParaRPr b="0">
              <a:solidFill>
                <a:srgbClr val="1A2332"/>
              </a:solidFill>
            </a:endParaRPr>
          </a:p>
          <a:p>
            <a:pPr>
              <a:defRPr b="1" sz="1100">
                <a:solidFill>
                  <a:srgbClr val="FF6B6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return </a:t>
            </a:r>
            <a:r>
              <a:rPr b="0">
                <a:solidFill>
                  <a:srgbClr val="1A2332"/>
                </a:solidFill>
              </a:rPr>
              <a:t>output</a:t>
            </a:r>
          </a:p>
        </p:txBody>
      </p:sp>
      <p:sp>
        <p:nvSpPr>
          <p:cNvPr id="450" name="Shape 4"/>
          <p:cNvSpPr/>
          <p:nvPr/>
        </p:nvSpPr>
        <p:spPr>
          <a:xfrm>
            <a:off x="457199" y="5715000"/>
            <a:ext cx="11247122" cy="594360"/>
          </a:xfrm>
          <a:prstGeom prst="rect">
            <a:avLst/>
          </a:prstGeom>
          <a:solidFill>
            <a:srgbClr val="1E3A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1" name="Shape 5"/>
          <p:cNvSpPr/>
          <p:nvPr/>
        </p:nvSpPr>
        <p:spPr>
          <a:xfrm>
            <a:off x="457200" y="5715000"/>
            <a:ext cx="137161" cy="594360"/>
          </a:xfrm>
          <a:prstGeom prst="rect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2" name="Text 6"/>
          <p:cNvSpPr txBox="1"/>
          <p:nvPr/>
        </p:nvSpPr>
        <p:spPr>
          <a:xfrm>
            <a:off x="822959" y="5852159"/>
            <a:ext cx="1074420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这就是算子的核心数学。注意 K 和 V 共用同一张量 (SharedKV)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54864" cy="5029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45719" rIns="45719" anchor="ctr">
            <a:spAutoFit/>
          </a:bodyPr>
          <a:lstStyle>
            <a:lvl1pPr>
              <a:defRPr sz="260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第 6 章 (3/4) · 算子契约：cache 的生长发生在算子外面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算子只读 ori_kv，不写它。cache 的“长大”发生在调用算子的外层循环里。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57400"/>
            <a:ext cx="5394960" cy="178308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57400"/>
            <a:ext cx="54864" cy="178308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21408"/>
            <a:ext cx="512064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1">
                <a:solidFill>
                  <a:srgbClr val="0F766E"/>
                </a:solidFill>
                <a:latin typeface="Calibri"/>
              </a:rPr>
              <a:t>两个常见场景</a:t>
            </a:r>
          </a:p>
          <a:p>
            <a:pPr/>
            <a:r>
              <a:rPr sz="1200" b="1">
                <a:solidFill>
                  <a:srgbClr val="1A2332"/>
                </a:solidFill>
                <a:latin typeface="Calibri"/>
              </a:rPr>
              <a:t>• Prefill（消化 prompt）</a:t>
            </a:r>
            <a:r>
              <a:rPr sz="1200">
                <a:solidFill>
                  <a:srgbClr val="1A2332"/>
                </a:solidFill>
                <a:latin typeface="Calibri"/>
              </a:rPr>
              <a:t>：S1 大（一次处理整段 prompt 的所有 q），cache 同步填到 S2 ≈ S1</a:t>
            </a:r>
          </a:p>
          <a:p>
            <a:pPr/>
            <a:r>
              <a:rPr sz="1200" b="1">
                <a:solidFill>
                  <a:srgbClr val="1A2332"/>
                </a:solidFill>
                <a:latin typeface="Calibri"/>
              </a:rPr>
              <a:t>• Decode（一次吐一字）</a:t>
            </a:r>
            <a:r>
              <a:rPr sz="1200">
                <a:solidFill>
                  <a:srgbClr val="1A2332"/>
                </a:solidFill>
                <a:latin typeface="Calibri"/>
              </a:rPr>
              <a:t>：S1 = 1，cache 已积累到 S2 远大于 S1</a:t>
            </a:r>
          </a:p>
          <a:p>
            <a:pPr/>
            <a:r>
              <a:rPr sz="1000" i="1">
                <a:solidFill>
                  <a:srgbClr val="64748B"/>
                </a:solidFill>
                <a:latin typeface="Calibri"/>
              </a:rPr>
              <a:t>*Speculative decoding（"投机解码"）时 S1 可能 &gt;1——一种"小模型一口气猜 K 个 token、大模型一次性验证"的加速技术。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057400"/>
            <a:ext cx="5577840" cy="178308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2057400"/>
            <a:ext cx="54864" cy="178308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121408"/>
            <a:ext cx="530352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1">
                <a:solidFill>
                  <a:srgbClr val="B91C1C"/>
                </a:solidFill>
                <a:latin typeface="Calibri"/>
              </a:rPr>
              <a:t>算子的契约</a:t>
            </a:r>
          </a:p>
          <a:p>
            <a:pPr/>
            <a:r>
              <a:rPr sz="1200" b="1">
                <a:solidFill>
                  <a:srgbClr val="1A2332"/>
                </a:solidFill>
                <a:latin typeface="Calibri"/>
              </a:rPr>
              <a:t>• 调用方传入的 ori_kv</a:t>
            </a:r>
            <a:r>
              <a:rPr sz="1200">
                <a:solidFill>
                  <a:srgbClr val="1A2332"/>
                </a:solidFill>
                <a:latin typeface="Calibri"/>
              </a:rPr>
              <a:t>：已经是长度 S2 的完整快照</a:t>
            </a:r>
          </a:p>
          <a:p>
            <a:pPr/>
            <a:r>
              <a:rPr sz="1200" b="1">
                <a:solidFill>
                  <a:srgbClr val="1A2332"/>
                </a:solidFill>
                <a:latin typeface="Calibri"/>
              </a:rPr>
              <a:t>• 算子内部 for s1 循环</a:t>
            </a:r>
            <a:r>
              <a:rPr sz="1200">
                <a:solidFill>
                  <a:srgbClr val="1A2332"/>
                </a:solidFill>
                <a:latin typeface="Calibri"/>
              </a:rPr>
              <a:t>：全程 ori_kv 长度 = S2，不变</a:t>
            </a:r>
          </a:p>
          <a:p>
            <a:pPr/>
            <a:r>
              <a:rPr sz="1200" b="1">
                <a:solidFill>
                  <a:srgbClr val="1A2332"/>
                </a:solidFill>
                <a:latin typeface="Calibri"/>
              </a:rPr>
              <a:t>• 追加新 (K, V) → 调算子 → 再追加</a:t>
            </a:r>
            <a:r>
              <a:rPr sz="1200">
                <a:solidFill>
                  <a:srgbClr val="1A2332"/>
                </a:solidFill>
                <a:latin typeface="Calibri"/>
              </a:rPr>
              <a:t>：是外层循环做的事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77639"/>
            <a:ext cx="11247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1E3A5F"/>
                </a:solidFill>
                <a:latin typeface="Calibri"/>
              </a:rPr>
              <a:t>完整一轮生成流程（外层伪代码）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89120"/>
            <a:ext cx="11247120" cy="1783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1088136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>
                <a:solidFill>
                  <a:srgbClr val="0F172A"/>
                </a:solidFill>
                <a:latin typeface="Consolas"/>
              </a:rPr>
              <a:t>while not done:</a:t>
            </a:r>
          </a:p>
          <a:p>
            <a:r>
              <a:rPr sz="1200">
                <a:solidFill>
                  <a:srgbClr val="0F172A"/>
                </a:solidFill>
                <a:latin typeface="Consolas"/>
              </a:rPr>
              <a:t>    1) 拿这一轮的新 token  → 算它们的 K, V          ← 在算子外面</a:t>
            </a:r>
          </a:p>
          <a:p>
            <a:r>
              <a:rPr sz="1200">
                <a:solidFill>
                  <a:srgbClr val="0F172A"/>
                </a:solidFill>
                <a:latin typeface="Consolas"/>
              </a:rPr>
              <a:t>    2) 把新 K, V 追加到 ori_kv  (cache 长大)        ← 在算子外面</a:t>
            </a:r>
          </a:p>
          <a:p>
            <a:r>
              <a:rPr sz="1200">
                <a:solidFill>
                  <a:srgbClr val="0F172A"/>
                </a:solidFill>
                <a:latin typeface="Consolas"/>
              </a:rPr>
              <a:t>    3) 调用 SparseAttnSharedkv(q, ori_kv, ...)     ← 算子内 ori_kv 长度 = S2 不变</a:t>
            </a:r>
          </a:p>
          <a:p>
            <a:r>
              <a:rPr sz="1200">
                <a:solidFill>
                  <a:srgbClr val="0F172A"/>
                </a:solidFill>
                <a:latin typeface="Consolas"/>
              </a:rPr>
              <a:t>    4) attention 输出 → FFN → 下层 → ... → 词表概率 → 采样下一批 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i="1" b="0">
                <a:solidFill>
                  <a:srgbClr val="64748B"/>
                </a:solidFill>
                <a:latin typeface="Calibri"/>
              </a:rPr>
              <a:t>提示：K/V 在 cache 里 ≠ 当前 q 看得见。当 </a:t>
            </a:r>
            <a:r>
              <a:rPr sz="1100" i="1" b="1">
                <a:solidFill>
                  <a:srgbClr val="64748B"/>
                </a:solidFill>
                <a:latin typeface="Calibri"/>
              </a:rPr>
              <a:t>S1 &gt; 1（prefill / speculative）</a:t>
            </a:r>
            <a:r>
              <a:rPr sz="1100" i="1" b="0">
                <a:solidFill>
                  <a:srgbClr val="64748B"/>
                </a:solidFill>
                <a:latin typeface="Calibri"/>
              </a:rPr>
              <a:t> 时，cache 里同时存在“位置比当前 q 后”的 K/V——这些“未来位置”会被因果 mask 屏蔽 (-∞)。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Shape 0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5" name="Text 1"/>
          <p:cNvSpPr txBox="1"/>
          <p:nvPr/>
        </p:nvSpPr>
        <p:spPr>
          <a:xfrm>
            <a:off x="685799" y="382270"/>
            <a:ext cx="1097280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60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第 6 章 (4/4) · 迷你例子走一遍</a:t>
            </a:r>
          </a:p>
        </p:txBody>
      </p:sp>
      <p:sp>
        <p:nvSpPr>
          <p:cNvPr id="456" name="Shape 2"/>
          <p:cNvSpPr/>
          <p:nvPr/>
        </p:nvSpPr>
        <p:spPr>
          <a:xfrm>
            <a:off x="457199" y="1100000"/>
            <a:ext cx="11247122" cy="1100000"/>
          </a:xfrm>
          <a:prstGeom prst="rect">
            <a:avLst/>
          </a:prstGeom>
          <a:solidFill>
            <a:srgbClr val="F7F9FC"/>
          </a:solidFill>
          <a:ln w="19050">
            <a:solidFill>
              <a:srgbClr val="FFA94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7" name="Text 3"/>
          <p:cNvSpPr txBox="1"/>
          <p:nvPr/>
        </p:nvSpPr>
        <p:spPr>
          <a:xfrm>
            <a:off x="685800" y="1230000"/>
            <a:ext cx="10789920" cy="84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r>
              <a:rPr lang="en-US" sz="1300" b="1">
                <a:solidFill>
                  <a:srgbClr val="FFA94D"/>
                </a:solidFill>
                <a:latin typeface="Cambria"/>
                <a:ea typeface="Cambria"/>
                <a:cs typeface="Cambria"/>
                <a:sym typeface="Cambria"/>
              </a:rPr>
              <a:t>场景：</a:t>
            </a:r>
            <a:r>
              <a:rPr lang="en-US" sz="1300" b="1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Speculative decoding 验证步（S1 &gt; 1 的典型场景，cache 末尾追加 4 个候选 q）</a:t>
            </a:r>
          </a:p>
          <a:p>
            <a:r>
              <a:rPr lang="en-US" sz="11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rPr>
              <a:t>B=1, S1=4 (4 个候选 q), S2=8 (cache 已积累 8 条), S3=4, N1=2, N2=1, D=4 | ori_win_left=3, cmp_ratio=2, cmp_sparse_indices=[0, 2]</a:t>
            </a:r>
          </a:p>
          <a:p>
            <a:r>
              <a:rPr lang="en-US" sz="1200" i="1">
                <a:solidFill>
                  <a:srgbClr val="64748B"/>
                </a:solidFill>
                <a:latin typeface="Cambria"/>
                <a:ea typeface="Cambria"/>
                <a:cs typeface="Cambria"/>
                <a:sym typeface="Cambria"/>
              </a:rPr>
              <a:t>4 个新 q 在全局序列中的位置: 4, 5, 6, 7 (位于 cache 末尾)</a:t>
            </a:r>
          </a:p>
        </p:txBody>
      </p:sp>
      <p:sp>
        <p:nvSpPr>
          <p:cNvPr id="458" name="Shape 4"/>
          <p:cNvSpPr/>
          <p:nvPr/>
        </p:nvSpPr>
        <p:spPr>
          <a:xfrm>
            <a:off x="457200" y="2300000"/>
            <a:ext cx="6858000" cy="4400000"/>
          </a:xfrm>
          <a:prstGeom prst="rect">
            <a:avLst/>
          </a:prstGeom>
          <a:solidFill>
            <a:srgbClr val="EEF2F7"/>
          </a:solidFill>
          <a:ln w="6350">
            <a:solidFill>
              <a:srgbClr val="6474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9" name="Text 5"/>
          <p:cNvSpPr txBox="1"/>
          <p:nvPr/>
        </p:nvSpPr>
        <p:spPr>
          <a:xfrm>
            <a:off x="640079" y="2350000"/>
            <a:ext cx="700000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rPr lang="en-US" sz="1400" b="1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计算 s1=2 (第 3 个候选 q，全局位置 pos = 6)，head 0</a:t>
            </a:r>
          </a:p>
        </p:txBody>
      </p:sp>
      <p:sp>
        <p:nvSpPr>
          <p:cNvPr id="460" name="Text 6"/>
          <p:cNvSpPr txBox="1"/>
          <p:nvPr/>
        </p:nvSpPr>
        <p:spPr>
          <a:xfrm>
            <a:off x="685799" y="2700000"/>
            <a:ext cx="6700000" cy="3491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r>
              <a:rPr lang="en-US" sz="1200" b="1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Step 1: 确定可见 KV 范围</a:t>
            </a:r>
          </a:p>
          <a:p>
            <a:r>
              <a:rPr lang="en-US" sz="1100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  • 滑窗 ori_kv (看自己 + 过去 3 条):</a:t>
            </a:r>
          </a:p>
          <a:p>
            <a:r>
              <a:rPr lang="en-US" sz="10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rPr>
              <a:t>    pos=6, 左 max(0, 6-3)=3, 右 6 → </a:t>
            </a:r>
            <a:r>
              <a:rPr lang="en-US" sz="1000" b="1">
                <a:solidFill>
                  <a:srgbClr val="2EC4B6"/>
                </a:solidFill>
                <a:latin typeface="Consolas"/>
                <a:ea typeface="Consolas"/>
                <a:cs typeface="Consolas"/>
                <a:sym typeface="Consolas"/>
              </a:rPr>
              <a:t>ori_kv 索引 3, 4, 5, 6, 共 4 条</a:t>
            </a:r>
          </a:p>
          <a:p>
            <a:r>
              <a:rPr lang="en-US" sz="1100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  • 稀疏过滤 cmp_kv (因果 mask):</a:t>
            </a:r>
          </a:p>
          <a:p>
            <a:r>
              <a:rPr lang="en-US" sz="10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rPr>
              <a:t>    cmp_S2IdLimit = (6+1)//2 = 3, [0, 2] 均 &lt; 3 → </a:t>
            </a:r>
            <a:r>
              <a:rPr lang="en-US" sz="1000" b="1">
                <a:solidFill>
                  <a:srgbClr val="FFA94D"/>
                </a:solidFill>
                <a:latin typeface="Consolas"/>
                <a:ea typeface="Consolas"/>
                <a:cs typeface="Consolas"/>
                <a:sym typeface="Consolas"/>
              </a:rPr>
              <a:t>cmp_kv 索引 0 和 2, 共 2 条</a:t>
            </a:r>
          </a:p>
          <a:p>
            <a:r>
              <a:rPr lang="en-US" sz="1100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  • 拼起来 K 矩阵: </a:t>
            </a:r>
            <a:r>
              <a:rPr lang="en-US" sz="1100" b="1">
                <a:solidFill>
                  <a:srgbClr val="1E3A5F"/>
                </a:solidFill>
                <a:latin typeface="Consolas"/>
                <a:ea typeface="Consolas"/>
                <a:cs typeface="Consolas"/>
                <a:sym typeface="Consolas"/>
              </a:rPr>
              <a:t>4 + 2 = 6 行</a:t>
            </a:r>
          </a:p>
          <a:p/>
          <a:p>
            <a:r>
              <a:rPr lang="en-US" sz="1200" b="1">
                <a:solidFill>
                  <a:srgbClr val="FF6B6B"/>
                </a:solidFill>
                <a:latin typeface="Cambria"/>
                <a:ea typeface="Cambria"/>
                <a:cs typeface="Cambria"/>
                <a:sym typeface="Cambria"/>
              </a:rPr>
              <a:t>Step 2: q @ K.T</a:t>
            </a:r>
          </a:p>
          <a:p>
            <a:r>
              <a:rPr lang="en-US" sz="10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rPr>
              <a:t>    (1, 4) @ (6, 4).T = (1, 6)  → 得到 6 个 scores</a:t>
            </a:r>
          </a:p>
          <a:p/>
          <a:p>
            <a:r>
              <a:rPr lang="en-US" sz="1200" b="1">
                <a:solidFill>
                  <a:srgbClr val="FFA94D"/>
                </a:solidFill>
                <a:latin typeface="Cambria"/>
                <a:ea typeface="Cambria"/>
                <a:cs typeface="Cambria"/>
                <a:sym typeface="Cambria"/>
              </a:rPr>
              <a:t>Step 3: scale + softmax (含 sink)</a:t>
            </a:r>
          </a:p>
          <a:p>
            <a:r>
              <a:rPr lang="en-US" sz="10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rPr>
              <a:t>    scores      = scores * softmax_scale         # (6,)</a:t>
            </a:r>
          </a:p>
          <a:p>
            <a:r>
              <a:rPr lang="en-US" sz="10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rPr>
              <a:t>    scores_full = concat(scores, [sinks[0]])     # (7,) 追加 sink</a:t>
            </a:r>
          </a:p>
          <a:p>
            <a:r>
              <a:rPr lang="en-US" sz="10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rPr>
              <a:t>    weights     = softmax(scores_full)[:6]       # (6,) 丢掉 sink</a:t>
            </a:r>
          </a:p>
          <a:p/>
          <a:p>
            <a:r>
              <a:rPr lang="en-US" sz="1200" b="1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Step 4: weights @ K</a:t>
            </a:r>
          </a:p>
          <a:p>
            <a:r>
              <a:rPr lang="en-US" sz="1000">
                <a:solidFill>
                  <a:srgbClr val="1A2332"/>
                </a:solidFill>
                <a:latin typeface="Consolas"/>
                <a:ea typeface="Consolas"/>
                <a:cs typeface="Consolas"/>
                <a:sym typeface="Consolas"/>
              </a:rPr>
              <a:t>    (6,) @ (6, 4) = (4,)  → output 向量 (D=4)</a:t>
            </a:r>
          </a:p>
        </p:txBody>
      </p:sp>
      <p:sp>
        <p:nvSpPr>
          <p:cNvPr id="461" name="Text 7"/>
          <p:cNvSpPr txBox="1"/>
          <p:nvPr/>
        </p:nvSpPr>
        <p:spPr>
          <a:xfrm>
            <a:off x="7635239" y="2350000"/>
            <a:ext cx="40233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 algn="ctr"/>
            <a:r>
              <a:rPr lang="en-US" sz="1400" b="1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K (6 行 × 4 列)</a:t>
            </a:r>
          </a:p>
        </p:txBody>
      </p:sp>
      <p:sp>
        <p:nvSpPr>
          <p:cNvPr id="462" name="Rectangle 461"/>
          <p:cNvSpPr/>
          <p:nvPr/>
        </p:nvSpPr>
        <p:spPr>
          <a:xfrm>
            <a:off x="7589520" y="2697480"/>
            <a:ext cx="1463040" cy="3657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3" name="TextBox 462"/>
          <p:cNvSpPr txBox="1"/>
          <p:nvPr/>
        </p:nvSpPr>
        <p:spPr>
          <a:xfrm>
            <a:off x="7589520" y="2697480"/>
            <a:ext cx="1463040" cy="365760"/>
          </a:xfrm>
          <a:prstGeom prst="rect">
            <a:avLst/>
          </a:prstGeom>
          <a:noFill/>
        </p:spPr>
        <p:txBody>
          <a:bodyPr wrap="none" lIns="45719" rIns="45719" anchor="ctr">
            <a:spAutoFit/>
          </a:bodyPr>
          <a:lstStyle/>
          <a:p>
            <a:pPr algn="ctr"/>
            <a:r>
              <a:rPr lang="en-US" sz="1100" b="1" i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ori_kv[3]</a:t>
            </a:r>
          </a:p>
        </p:txBody>
      </p:sp>
      <p:sp>
        <p:nvSpPr>
          <p:cNvPr id="464" name="Rectangle 463"/>
          <p:cNvSpPr/>
          <p:nvPr/>
        </p:nvSpPr>
        <p:spPr>
          <a:xfrm>
            <a:off x="9098280" y="2697480"/>
            <a:ext cx="548640" cy="365760"/>
          </a:xfrm>
          <a:prstGeom prst="rect">
            <a:avLst/>
          </a:prstGeom>
          <a:solidFill>
            <a:srgbClr val="F7F9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5" name="TextBox 464"/>
          <p:cNvSpPr txBox="1"/>
          <p:nvPr/>
        </p:nvSpPr>
        <p:spPr>
          <a:xfrm>
            <a:off x="9098280" y="2697480"/>
            <a:ext cx="548640" cy="365760"/>
          </a:xfrm>
          <a:prstGeom prst="rect">
            <a:avLst/>
          </a:prstGeom>
          <a:noFill/>
        </p:spPr>
        <p:txBody>
          <a:bodyPr wrap="none" lIns="45719" rIns="45719" anchor="ctr">
            <a:spAutoFit/>
          </a:bodyPr>
          <a:lstStyle/>
          <a:p>
            <a:pPr algn="ctr"/>
            <a:r>
              <a:rPr lang="en-US" sz="1200" b="0" i="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</a:p>
        </p:txBody>
      </p:sp>
      <p:sp>
        <p:nvSpPr>
          <p:cNvPr id="466" name="Rectangle 465"/>
          <p:cNvSpPr/>
          <p:nvPr/>
        </p:nvSpPr>
        <p:spPr>
          <a:xfrm>
            <a:off x="9692640" y="2697480"/>
            <a:ext cx="548640" cy="365760"/>
          </a:xfrm>
          <a:prstGeom prst="rect">
            <a:avLst/>
          </a:prstGeom>
          <a:solidFill>
            <a:srgbClr val="F7F9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7" name="TextBox 466"/>
          <p:cNvSpPr txBox="1"/>
          <p:nvPr/>
        </p:nvSpPr>
        <p:spPr>
          <a:xfrm>
            <a:off x="9692640" y="2697480"/>
            <a:ext cx="548640" cy="365760"/>
          </a:xfrm>
          <a:prstGeom prst="rect">
            <a:avLst/>
          </a:prstGeom>
          <a:noFill/>
        </p:spPr>
        <p:txBody>
          <a:bodyPr wrap="none" lIns="45719" rIns="45719" anchor="ctr">
            <a:spAutoFit/>
          </a:bodyPr>
          <a:lstStyle/>
          <a:p>
            <a:pPr algn="ctr"/>
            <a:r>
              <a:rPr lang="en-US" sz="1200" b="0" i="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</a:p>
        </p:txBody>
      </p:sp>
      <p:sp>
        <p:nvSpPr>
          <p:cNvPr id="468" name="Rectangle 467"/>
          <p:cNvSpPr/>
          <p:nvPr/>
        </p:nvSpPr>
        <p:spPr>
          <a:xfrm>
            <a:off x="10287000" y="2697480"/>
            <a:ext cx="548640" cy="365760"/>
          </a:xfrm>
          <a:prstGeom prst="rect">
            <a:avLst/>
          </a:prstGeom>
          <a:solidFill>
            <a:srgbClr val="F7F9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9" name="TextBox 468"/>
          <p:cNvSpPr txBox="1"/>
          <p:nvPr/>
        </p:nvSpPr>
        <p:spPr>
          <a:xfrm>
            <a:off x="10287000" y="2697480"/>
            <a:ext cx="548640" cy="365760"/>
          </a:xfrm>
          <a:prstGeom prst="rect">
            <a:avLst/>
          </a:prstGeom>
          <a:noFill/>
        </p:spPr>
        <p:txBody>
          <a:bodyPr wrap="none" lIns="45719" rIns="45719" anchor="ctr">
            <a:spAutoFit/>
          </a:bodyPr>
          <a:lstStyle/>
          <a:p>
            <a:pPr algn="ctr"/>
            <a:r>
              <a:rPr lang="en-US" sz="1200" b="0" i="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</a:p>
        </p:txBody>
      </p:sp>
      <p:sp>
        <p:nvSpPr>
          <p:cNvPr id="470" name="Rectangle 469"/>
          <p:cNvSpPr/>
          <p:nvPr/>
        </p:nvSpPr>
        <p:spPr>
          <a:xfrm>
            <a:off x="10881359" y="2697480"/>
            <a:ext cx="548640" cy="365760"/>
          </a:xfrm>
          <a:prstGeom prst="rect">
            <a:avLst/>
          </a:prstGeom>
          <a:solidFill>
            <a:srgbClr val="F7F9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1" name="TextBox 470"/>
          <p:cNvSpPr txBox="1"/>
          <p:nvPr/>
        </p:nvSpPr>
        <p:spPr>
          <a:xfrm>
            <a:off x="10881359" y="2697480"/>
            <a:ext cx="548640" cy="365760"/>
          </a:xfrm>
          <a:prstGeom prst="rect">
            <a:avLst/>
          </a:prstGeom>
          <a:noFill/>
        </p:spPr>
        <p:txBody>
          <a:bodyPr wrap="none" lIns="45719" rIns="45719" anchor="ctr">
            <a:spAutoFit/>
          </a:bodyPr>
          <a:lstStyle/>
          <a:p>
            <a:pPr algn="ctr"/>
            <a:r>
              <a:rPr lang="en-US" sz="1200" b="0" i="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</a:p>
        </p:txBody>
      </p:sp>
      <p:sp>
        <p:nvSpPr>
          <p:cNvPr id="472" name="Rectangle 471"/>
          <p:cNvSpPr/>
          <p:nvPr/>
        </p:nvSpPr>
        <p:spPr>
          <a:xfrm>
            <a:off x="7589520" y="3118104"/>
            <a:ext cx="1463040" cy="3657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3" name="TextBox 472"/>
          <p:cNvSpPr txBox="1"/>
          <p:nvPr/>
        </p:nvSpPr>
        <p:spPr>
          <a:xfrm>
            <a:off x="7589520" y="3118104"/>
            <a:ext cx="1463040" cy="365760"/>
          </a:xfrm>
          <a:prstGeom prst="rect">
            <a:avLst/>
          </a:prstGeom>
          <a:noFill/>
        </p:spPr>
        <p:txBody>
          <a:bodyPr wrap="none" lIns="45719" rIns="45719" anchor="ctr">
            <a:spAutoFit/>
          </a:bodyPr>
          <a:lstStyle/>
          <a:p>
            <a:pPr algn="ctr"/>
            <a:r>
              <a:rPr lang="en-US" sz="1100" b="1" i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ori_kv[4]</a:t>
            </a:r>
          </a:p>
        </p:txBody>
      </p:sp>
      <p:sp>
        <p:nvSpPr>
          <p:cNvPr id="474" name="Rectangle 473"/>
          <p:cNvSpPr/>
          <p:nvPr/>
        </p:nvSpPr>
        <p:spPr>
          <a:xfrm>
            <a:off x="9098280" y="3118104"/>
            <a:ext cx="548640" cy="365760"/>
          </a:xfrm>
          <a:prstGeom prst="rect">
            <a:avLst/>
          </a:prstGeom>
          <a:solidFill>
            <a:srgbClr val="F7F9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5" name="TextBox 474"/>
          <p:cNvSpPr txBox="1"/>
          <p:nvPr/>
        </p:nvSpPr>
        <p:spPr>
          <a:xfrm>
            <a:off x="9098280" y="3118104"/>
            <a:ext cx="548640" cy="365760"/>
          </a:xfrm>
          <a:prstGeom prst="rect">
            <a:avLst/>
          </a:prstGeom>
          <a:noFill/>
        </p:spPr>
        <p:txBody>
          <a:bodyPr wrap="none" lIns="45719" rIns="45719" anchor="ctr">
            <a:spAutoFit/>
          </a:bodyPr>
          <a:lstStyle/>
          <a:p>
            <a:pPr algn="ctr"/>
            <a:r>
              <a:rPr lang="en-US" sz="1200" b="0" i="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</a:p>
        </p:txBody>
      </p:sp>
      <p:sp>
        <p:nvSpPr>
          <p:cNvPr id="476" name="Rectangle 475"/>
          <p:cNvSpPr/>
          <p:nvPr/>
        </p:nvSpPr>
        <p:spPr>
          <a:xfrm>
            <a:off x="9692640" y="3118104"/>
            <a:ext cx="548640" cy="365760"/>
          </a:xfrm>
          <a:prstGeom prst="rect">
            <a:avLst/>
          </a:prstGeom>
          <a:solidFill>
            <a:srgbClr val="F7F9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7" name="TextBox 476"/>
          <p:cNvSpPr txBox="1"/>
          <p:nvPr/>
        </p:nvSpPr>
        <p:spPr>
          <a:xfrm>
            <a:off x="9692640" y="3118104"/>
            <a:ext cx="548640" cy="365760"/>
          </a:xfrm>
          <a:prstGeom prst="rect">
            <a:avLst/>
          </a:prstGeom>
          <a:noFill/>
        </p:spPr>
        <p:txBody>
          <a:bodyPr wrap="none" lIns="45719" rIns="45719" anchor="ctr">
            <a:spAutoFit/>
          </a:bodyPr>
          <a:lstStyle/>
          <a:p>
            <a:pPr algn="ctr"/>
            <a:r>
              <a:rPr lang="en-US" sz="1200" b="0" i="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</a:p>
        </p:txBody>
      </p:sp>
      <p:sp>
        <p:nvSpPr>
          <p:cNvPr id="478" name="Rectangle 477"/>
          <p:cNvSpPr/>
          <p:nvPr/>
        </p:nvSpPr>
        <p:spPr>
          <a:xfrm>
            <a:off x="10287000" y="3118104"/>
            <a:ext cx="548640" cy="365760"/>
          </a:xfrm>
          <a:prstGeom prst="rect">
            <a:avLst/>
          </a:prstGeom>
          <a:solidFill>
            <a:srgbClr val="F7F9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9" name="TextBox 478"/>
          <p:cNvSpPr txBox="1"/>
          <p:nvPr/>
        </p:nvSpPr>
        <p:spPr>
          <a:xfrm>
            <a:off x="10287000" y="3118104"/>
            <a:ext cx="548640" cy="365760"/>
          </a:xfrm>
          <a:prstGeom prst="rect">
            <a:avLst/>
          </a:prstGeom>
          <a:noFill/>
        </p:spPr>
        <p:txBody>
          <a:bodyPr wrap="none" lIns="45719" rIns="45719" anchor="ctr">
            <a:spAutoFit/>
          </a:bodyPr>
          <a:lstStyle/>
          <a:p>
            <a:pPr algn="ctr"/>
            <a:r>
              <a:rPr lang="en-US" sz="1200" b="0" i="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</a:p>
        </p:txBody>
      </p:sp>
      <p:sp>
        <p:nvSpPr>
          <p:cNvPr id="480" name="Rectangle 479"/>
          <p:cNvSpPr/>
          <p:nvPr/>
        </p:nvSpPr>
        <p:spPr>
          <a:xfrm>
            <a:off x="10881359" y="3118104"/>
            <a:ext cx="548640" cy="365760"/>
          </a:xfrm>
          <a:prstGeom prst="rect">
            <a:avLst/>
          </a:prstGeom>
          <a:solidFill>
            <a:srgbClr val="F7F9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1" name="TextBox 480"/>
          <p:cNvSpPr txBox="1"/>
          <p:nvPr/>
        </p:nvSpPr>
        <p:spPr>
          <a:xfrm>
            <a:off x="10881359" y="3118104"/>
            <a:ext cx="548640" cy="365760"/>
          </a:xfrm>
          <a:prstGeom prst="rect">
            <a:avLst/>
          </a:prstGeom>
          <a:noFill/>
        </p:spPr>
        <p:txBody>
          <a:bodyPr wrap="none" lIns="45719" rIns="45719" anchor="ctr">
            <a:spAutoFit/>
          </a:bodyPr>
          <a:lstStyle/>
          <a:p>
            <a:pPr algn="ctr"/>
            <a:r>
              <a:rPr lang="en-US" sz="1200" b="0" i="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</a:p>
        </p:txBody>
      </p:sp>
      <p:sp>
        <p:nvSpPr>
          <p:cNvPr id="482" name="Rectangle 481"/>
          <p:cNvSpPr/>
          <p:nvPr/>
        </p:nvSpPr>
        <p:spPr>
          <a:xfrm>
            <a:off x="7589520" y="3538728"/>
            <a:ext cx="1463040" cy="3657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3" name="TextBox 482"/>
          <p:cNvSpPr txBox="1"/>
          <p:nvPr/>
        </p:nvSpPr>
        <p:spPr>
          <a:xfrm>
            <a:off x="7589520" y="3538728"/>
            <a:ext cx="1463040" cy="365760"/>
          </a:xfrm>
          <a:prstGeom prst="rect">
            <a:avLst/>
          </a:prstGeom>
          <a:noFill/>
        </p:spPr>
        <p:txBody>
          <a:bodyPr wrap="none" lIns="45719" rIns="45719" anchor="ctr">
            <a:spAutoFit/>
          </a:bodyPr>
          <a:lstStyle/>
          <a:p>
            <a:pPr algn="ctr"/>
            <a:r>
              <a:rPr lang="en-US" sz="1100" b="1" i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ori_kv[5]</a:t>
            </a:r>
          </a:p>
        </p:txBody>
      </p:sp>
      <p:sp>
        <p:nvSpPr>
          <p:cNvPr id="484" name="Rectangle 483"/>
          <p:cNvSpPr/>
          <p:nvPr/>
        </p:nvSpPr>
        <p:spPr>
          <a:xfrm>
            <a:off x="9098280" y="3538728"/>
            <a:ext cx="548640" cy="365760"/>
          </a:xfrm>
          <a:prstGeom prst="rect">
            <a:avLst/>
          </a:prstGeom>
          <a:solidFill>
            <a:srgbClr val="F7F9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5" name="TextBox 484"/>
          <p:cNvSpPr txBox="1"/>
          <p:nvPr/>
        </p:nvSpPr>
        <p:spPr>
          <a:xfrm>
            <a:off x="9098280" y="3538728"/>
            <a:ext cx="548640" cy="365760"/>
          </a:xfrm>
          <a:prstGeom prst="rect">
            <a:avLst/>
          </a:prstGeom>
          <a:noFill/>
        </p:spPr>
        <p:txBody>
          <a:bodyPr wrap="none" lIns="45719" rIns="45719" anchor="ctr">
            <a:spAutoFit/>
          </a:bodyPr>
          <a:lstStyle/>
          <a:p>
            <a:pPr algn="ctr"/>
            <a:r>
              <a:rPr lang="en-US" sz="1200" b="0" i="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</a:p>
        </p:txBody>
      </p:sp>
      <p:sp>
        <p:nvSpPr>
          <p:cNvPr id="486" name="Rectangle 485"/>
          <p:cNvSpPr/>
          <p:nvPr/>
        </p:nvSpPr>
        <p:spPr>
          <a:xfrm>
            <a:off x="9692640" y="3538728"/>
            <a:ext cx="548640" cy="365760"/>
          </a:xfrm>
          <a:prstGeom prst="rect">
            <a:avLst/>
          </a:prstGeom>
          <a:solidFill>
            <a:srgbClr val="F7F9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7" name="TextBox 486"/>
          <p:cNvSpPr txBox="1"/>
          <p:nvPr/>
        </p:nvSpPr>
        <p:spPr>
          <a:xfrm>
            <a:off x="9692640" y="3538728"/>
            <a:ext cx="548640" cy="365760"/>
          </a:xfrm>
          <a:prstGeom prst="rect">
            <a:avLst/>
          </a:prstGeom>
          <a:noFill/>
        </p:spPr>
        <p:txBody>
          <a:bodyPr wrap="none" lIns="45719" rIns="45719" anchor="ctr">
            <a:spAutoFit/>
          </a:bodyPr>
          <a:lstStyle/>
          <a:p>
            <a:pPr algn="ctr"/>
            <a:r>
              <a:rPr lang="en-US" sz="1200" b="0" i="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</a:p>
        </p:txBody>
      </p:sp>
      <p:sp>
        <p:nvSpPr>
          <p:cNvPr id="488" name="Rectangle 487"/>
          <p:cNvSpPr/>
          <p:nvPr/>
        </p:nvSpPr>
        <p:spPr>
          <a:xfrm>
            <a:off x="10287000" y="3538728"/>
            <a:ext cx="548640" cy="365760"/>
          </a:xfrm>
          <a:prstGeom prst="rect">
            <a:avLst/>
          </a:prstGeom>
          <a:solidFill>
            <a:srgbClr val="F7F9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9" name="TextBox 488"/>
          <p:cNvSpPr txBox="1"/>
          <p:nvPr/>
        </p:nvSpPr>
        <p:spPr>
          <a:xfrm>
            <a:off x="10287000" y="3538728"/>
            <a:ext cx="548640" cy="365760"/>
          </a:xfrm>
          <a:prstGeom prst="rect">
            <a:avLst/>
          </a:prstGeom>
          <a:noFill/>
        </p:spPr>
        <p:txBody>
          <a:bodyPr wrap="none" lIns="45719" rIns="45719" anchor="ctr">
            <a:spAutoFit/>
          </a:bodyPr>
          <a:lstStyle/>
          <a:p>
            <a:pPr algn="ctr"/>
            <a:r>
              <a:rPr lang="en-US" sz="1200" b="0" i="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</a:p>
        </p:txBody>
      </p:sp>
      <p:sp>
        <p:nvSpPr>
          <p:cNvPr id="490" name="Rectangle 489"/>
          <p:cNvSpPr/>
          <p:nvPr/>
        </p:nvSpPr>
        <p:spPr>
          <a:xfrm>
            <a:off x="10881359" y="3538728"/>
            <a:ext cx="548640" cy="365760"/>
          </a:xfrm>
          <a:prstGeom prst="rect">
            <a:avLst/>
          </a:prstGeom>
          <a:solidFill>
            <a:srgbClr val="F7F9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1" name="TextBox 490"/>
          <p:cNvSpPr txBox="1"/>
          <p:nvPr/>
        </p:nvSpPr>
        <p:spPr>
          <a:xfrm>
            <a:off x="10881359" y="3538728"/>
            <a:ext cx="548640" cy="365760"/>
          </a:xfrm>
          <a:prstGeom prst="rect">
            <a:avLst/>
          </a:prstGeom>
          <a:noFill/>
        </p:spPr>
        <p:txBody>
          <a:bodyPr wrap="none" lIns="45719" rIns="45719" anchor="ctr">
            <a:spAutoFit/>
          </a:bodyPr>
          <a:lstStyle/>
          <a:p>
            <a:pPr algn="ctr"/>
            <a:r>
              <a:rPr lang="en-US" sz="1200" b="0" i="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</a:p>
        </p:txBody>
      </p:sp>
      <p:sp>
        <p:nvSpPr>
          <p:cNvPr id="492" name="Rectangle 491"/>
          <p:cNvSpPr/>
          <p:nvPr/>
        </p:nvSpPr>
        <p:spPr>
          <a:xfrm>
            <a:off x="7589520" y="3959352"/>
            <a:ext cx="1463040" cy="3657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3" name="TextBox 492"/>
          <p:cNvSpPr txBox="1"/>
          <p:nvPr/>
        </p:nvSpPr>
        <p:spPr>
          <a:xfrm>
            <a:off x="7589520" y="3959352"/>
            <a:ext cx="1463040" cy="365760"/>
          </a:xfrm>
          <a:prstGeom prst="rect">
            <a:avLst/>
          </a:prstGeom>
          <a:noFill/>
        </p:spPr>
        <p:txBody>
          <a:bodyPr wrap="none" lIns="45719" rIns="45719" anchor="ctr">
            <a:spAutoFit/>
          </a:bodyPr>
          <a:lstStyle/>
          <a:p>
            <a:pPr algn="ctr"/>
            <a:r>
              <a:rPr lang="en-US" sz="1100" b="1" i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ori_kv[6]</a:t>
            </a:r>
          </a:p>
        </p:txBody>
      </p:sp>
      <p:sp>
        <p:nvSpPr>
          <p:cNvPr id="494" name="Rectangle 493"/>
          <p:cNvSpPr/>
          <p:nvPr/>
        </p:nvSpPr>
        <p:spPr>
          <a:xfrm>
            <a:off x="9098280" y="3959352"/>
            <a:ext cx="548640" cy="365760"/>
          </a:xfrm>
          <a:prstGeom prst="rect">
            <a:avLst/>
          </a:prstGeom>
          <a:solidFill>
            <a:srgbClr val="F7F9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5" name="TextBox 494"/>
          <p:cNvSpPr txBox="1"/>
          <p:nvPr/>
        </p:nvSpPr>
        <p:spPr>
          <a:xfrm>
            <a:off x="9098280" y="3959352"/>
            <a:ext cx="548640" cy="365760"/>
          </a:xfrm>
          <a:prstGeom prst="rect">
            <a:avLst/>
          </a:prstGeom>
          <a:noFill/>
        </p:spPr>
        <p:txBody>
          <a:bodyPr wrap="none" lIns="45719" rIns="45719" anchor="ctr">
            <a:spAutoFit/>
          </a:bodyPr>
          <a:lstStyle/>
          <a:p>
            <a:pPr algn="ctr"/>
            <a:r>
              <a:rPr lang="en-US" sz="1200" b="0" i="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</a:p>
        </p:txBody>
      </p:sp>
      <p:sp>
        <p:nvSpPr>
          <p:cNvPr id="496" name="Rectangle 495"/>
          <p:cNvSpPr/>
          <p:nvPr/>
        </p:nvSpPr>
        <p:spPr>
          <a:xfrm>
            <a:off x="9692640" y="3959352"/>
            <a:ext cx="548640" cy="365760"/>
          </a:xfrm>
          <a:prstGeom prst="rect">
            <a:avLst/>
          </a:prstGeom>
          <a:solidFill>
            <a:srgbClr val="F7F9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7" name="TextBox 496"/>
          <p:cNvSpPr txBox="1"/>
          <p:nvPr/>
        </p:nvSpPr>
        <p:spPr>
          <a:xfrm>
            <a:off x="9692640" y="3959352"/>
            <a:ext cx="548640" cy="365760"/>
          </a:xfrm>
          <a:prstGeom prst="rect">
            <a:avLst/>
          </a:prstGeom>
          <a:noFill/>
        </p:spPr>
        <p:txBody>
          <a:bodyPr wrap="none" lIns="45719" rIns="45719" anchor="ctr">
            <a:spAutoFit/>
          </a:bodyPr>
          <a:lstStyle/>
          <a:p>
            <a:pPr algn="ctr"/>
            <a:r>
              <a:rPr lang="en-US" sz="1200" b="0" i="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</a:p>
        </p:txBody>
      </p:sp>
      <p:sp>
        <p:nvSpPr>
          <p:cNvPr id="498" name="Rectangle 497"/>
          <p:cNvSpPr/>
          <p:nvPr/>
        </p:nvSpPr>
        <p:spPr>
          <a:xfrm>
            <a:off x="10287000" y="3959352"/>
            <a:ext cx="548640" cy="365760"/>
          </a:xfrm>
          <a:prstGeom prst="rect">
            <a:avLst/>
          </a:prstGeom>
          <a:solidFill>
            <a:srgbClr val="F7F9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9" name="TextBox 498"/>
          <p:cNvSpPr txBox="1"/>
          <p:nvPr/>
        </p:nvSpPr>
        <p:spPr>
          <a:xfrm>
            <a:off x="10287000" y="3959352"/>
            <a:ext cx="548640" cy="365760"/>
          </a:xfrm>
          <a:prstGeom prst="rect">
            <a:avLst/>
          </a:prstGeom>
          <a:noFill/>
        </p:spPr>
        <p:txBody>
          <a:bodyPr wrap="none" lIns="45719" rIns="45719" anchor="ctr">
            <a:spAutoFit/>
          </a:bodyPr>
          <a:lstStyle/>
          <a:p>
            <a:pPr algn="ctr"/>
            <a:r>
              <a:rPr lang="en-US" sz="1200" b="0" i="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</a:p>
        </p:txBody>
      </p:sp>
      <p:sp>
        <p:nvSpPr>
          <p:cNvPr id="500" name="Rectangle 499"/>
          <p:cNvSpPr/>
          <p:nvPr/>
        </p:nvSpPr>
        <p:spPr>
          <a:xfrm>
            <a:off x="10881359" y="3959352"/>
            <a:ext cx="548640" cy="365760"/>
          </a:xfrm>
          <a:prstGeom prst="rect">
            <a:avLst/>
          </a:prstGeom>
          <a:solidFill>
            <a:srgbClr val="F7F9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1" name="TextBox 500"/>
          <p:cNvSpPr txBox="1"/>
          <p:nvPr/>
        </p:nvSpPr>
        <p:spPr>
          <a:xfrm>
            <a:off x="10881359" y="3959352"/>
            <a:ext cx="548640" cy="365760"/>
          </a:xfrm>
          <a:prstGeom prst="rect">
            <a:avLst/>
          </a:prstGeom>
          <a:noFill/>
        </p:spPr>
        <p:txBody>
          <a:bodyPr wrap="none" lIns="45719" rIns="45719" anchor="ctr">
            <a:spAutoFit/>
          </a:bodyPr>
          <a:lstStyle/>
          <a:p>
            <a:pPr algn="ctr"/>
            <a:r>
              <a:rPr lang="en-US" sz="1200" b="0" i="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</a:p>
        </p:txBody>
      </p:sp>
      <p:sp>
        <p:nvSpPr>
          <p:cNvPr id="502" name="Rectangle 501"/>
          <p:cNvSpPr/>
          <p:nvPr/>
        </p:nvSpPr>
        <p:spPr>
          <a:xfrm>
            <a:off x="7589520" y="4379976"/>
            <a:ext cx="1463040" cy="365760"/>
          </a:xfrm>
          <a:prstGeom prst="rect">
            <a:avLst/>
          </a:prstGeom>
          <a:solidFill>
            <a:srgbClr val="FFA94D"/>
          </a:solidFill>
          <a:ln w="1270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3" name="TextBox 502"/>
          <p:cNvSpPr txBox="1"/>
          <p:nvPr/>
        </p:nvSpPr>
        <p:spPr>
          <a:xfrm>
            <a:off x="7589520" y="4379976"/>
            <a:ext cx="1463040" cy="365760"/>
          </a:xfrm>
          <a:prstGeom prst="rect">
            <a:avLst/>
          </a:prstGeom>
          <a:noFill/>
        </p:spPr>
        <p:txBody>
          <a:bodyPr wrap="none" lIns="45719" rIns="45719" anchor="ctr">
            <a:spAutoFit/>
          </a:bodyPr>
          <a:lstStyle/>
          <a:p>
            <a:pPr algn="ctr"/>
            <a:r>
              <a:rPr lang="en-US" sz="1100" b="1" i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cmp_kv[0]</a:t>
            </a:r>
          </a:p>
        </p:txBody>
      </p:sp>
      <p:sp>
        <p:nvSpPr>
          <p:cNvPr id="504" name="Rectangle 503"/>
          <p:cNvSpPr/>
          <p:nvPr/>
        </p:nvSpPr>
        <p:spPr>
          <a:xfrm>
            <a:off x="9098280" y="4379976"/>
            <a:ext cx="548640" cy="365760"/>
          </a:xfrm>
          <a:prstGeom prst="rect">
            <a:avLst/>
          </a:prstGeom>
          <a:solidFill>
            <a:srgbClr val="F7F9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5" name="TextBox 504"/>
          <p:cNvSpPr txBox="1"/>
          <p:nvPr/>
        </p:nvSpPr>
        <p:spPr>
          <a:xfrm>
            <a:off x="9098280" y="4379976"/>
            <a:ext cx="548640" cy="365760"/>
          </a:xfrm>
          <a:prstGeom prst="rect">
            <a:avLst/>
          </a:prstGeom>
          <a:noFill/>
        </p:spPr>
        <p:txBody>
          <a:bodyPr wrap="none" lIns="45719" rIns="45719" anchor="ctr">
            <a:spAutoFit/>
          </a:bodyPr>
          <a:lstStyle/>
          <a:p>
            <a:pPr algn="ctr"/>
            <a:r>
              <a:rPr lang="en-US" sz="1200" b="0" i="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</a:p>
        </p:txBody>
      </p:sp>
      <p:sp>
        <p:nvSpPr>
          <p:cNvPr id="506" name="Rectangle 505"/>
          <p:cNvSpPr/>
          <p:nvPr/>
        </p:nvSpPr>
        <p:spPr>
          <a:xfrm>
            <a:off x="9692640" y="4379976"/>
            <a:ext cx="548640" cy="365760"/>
          </a:xfrm>
          <a:prstGeom prst="rect">
            <a:avLst/>
          </a:prstGeom>
          <a:solidFill>
            <a:srgbClr val="F7F9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7" name="TextBox 506"/>
          <p:cNvSpPr txBox="1"/>
          <p:nvPr/>
        </p:nvSpPr>
        <p:spPr>
          <a:xfrm>
            <a:off x="9692640" y="4379976"/>
            <a:ext cx="548640" cy="365760"/>
          </a:xfrm>
          <a:prstGeom prst="rect">
            <a:avLst/>
          </a:prstGeom>
          <a:noFill/>
        </p:spPr>
        <p:txBody>
          <a:bodyPr wrap="none" lIns="45719" rIns="45719" anchor="ctr">
            <a:spAutoFit/>
          </a:bodyPr>
          <a:lstStyle/>
          <a:p>
            <a:pPr algn="ctr"/>
            <a:r>
              <a:rPr lang="en-US" sz="1200" b="0" i="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</a:p>
        </p:txBody>
      </p:sp>
      <p:sp>
        <p:nvSpPr>
          <p:cNvPr id="508" name="Rectangle 507"/>
          <p:cNvSpPr/>
          <p:nvPr/>
        </p:nvSpPr>
        <p:spPr>
          <a:xfrm>
            <a:off x="10287000" y="4379976"/>
            <a:ext cx="548640" cy="365760"/>
          </a:xfrm>
          <a:prstGeom prst="rect">
            <a:avLst/>
          </a:prstGeom>
          <a:solidFill>
            <a:srgbClr val="F7F9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9" name="TextBox 508"/>
          <p:cNvSpPr txBox="1"/>
          <p:nvPr/>
        </p:nvSpPr>
        <p:spPr>
          <a:xfrm>
            <a:off x="10287000" y="4379976"/>
            <a:ext cx="548640" cy="365760"/>
          </a:xfrm>
          <a:prstGeom prst="rect">
            <a:avLst/>
          </a:prstGeom>
          <a:noFill/>
        </p:spPr>
        <p:txBody>
          <a:bodyPr wrap="none" lIns="45719" rIns="45719" anchor="ctr">
            <a:spAutoFit/>
          </a:bodyPr>
          <a:lstStyle/>
          <a:p>
            <a:pPr algn="ctr"/>
            <a:r>
              <a:rPr lang="en-US" sz="1200" b="0" i="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</a:p>
        </p:txBody>
      </p:sp>
      <p:sp>
        <p:nvSpPr>
          <p:cNvPr id="510" name="Rectangle 509"/>
          <p:cNvSpPr/>
          <p:nvPr/>
        </p:nvSpPr>
        <p:spPr>
          <a:xfrm>
            <a:off x="10881359" y="4379976"/>
            <a:ext cx="548640" cy="365760"/>
          </a:xfrm>
          <a:prstGeom prst="rect">
            <a:avLst/>
          </a:prstGeom>
          <a:solidFill>
            <a:srgbClr val="F7F9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1" name="TextBox 510"/>
          <p:cNvSpPr txBox="1"/>
          <p:nvPr/>
        </p:nvSpPr>
        <p:spPr>
          <a:xfrm>
            <a:off x="10881359" y="4379976"/>
            <a:ext cx="548640" cy="365760"/>
          </a:xfrm>
          <a:prstGeom prst="rect">
            <a:avLst/>
          </a:prstGeom>
          <a:noFill/>
        </p:spPr>
        <p:txBody>
          <a:bodyPr wrap="none" lIns="45719" rIns="45719" anchor="ctr">
            <a:spAutoFit/>
          </a:bodyPr>
          <a:lstStyle/>
          <a:p>
            <a:pPr algn="ctr"/>
            <a:r>
              <a:rPr lang="en-US" sz="1200" b="0" i="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</a:p>
        </p:txBody>
      </p:sp>
      <p:sp>
        <p:nvSpPr>
          <p:cNvPr id="512" name="Rectangle 511"/>
          <p:cNvSpPr/>
          <p:nvPr/>
        </p:nvSpPr>
        <p:spPr>
          <a:xfrm>
            <a:off x="7589520" y="4800600"/>
            <a:ext cx="1463040" cy="365760"/>
          </a:xfrm>
          <a:prstGeom prst="rect">
            <a:avLst/>
          </a:prstGeom>
          <a:solidFill>
            <a:srgbClr val="FFA94D"/>
          </a:solidFill>
          <a:ln w="1270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3" name="TextBox 512"/>
          <p:cNvSpPr txBox="1"/>
          <p:nvPr/>
        </p:nvSpPr>
        <p:spPr>
          <a:xfrm>
            <a:off x="7589520" y="4800600"/>
            <a:ext cx="1463040" cy="365760"/>
          </a:xfrm>
          <a:prstGeom prst="rect">
            <a:avLst/>
          </a:prstGeom>
          <a:noFill/>
        </p:spPr>
        <p:txBody>
          <a:bodyPr wrap="none" lIns="45719" rIns="45719" anchor="ctr">
            <a:spAutoFit/>
          </a:bodyPr>
          <a:lstStyle/>
          <a:p>
            <a:pPr algn="ctr"/>
            <a:r>
              <a:rPr lang="en-US" sz="1100" b="1" i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cmp_kv[2]</a:t>
            </a:r>
          </a:p>
        </p:txBody>
      </p:sp>
      <p:sp>
        <p:nvSpPr>
          <p:cNvPr id="514" name="Rectangle 513"/>
          <p:cNvSpPr/>
          <p:nvPr/>
        </p:nvSpPr>
        <p:spPr>
          <a:xfrm>
            <a:off x="9098280" y="4800600"/>
            <a:ext cx="548640" cy="365760"/>
          </a:xfrm>
          <a:prstGeom prst="rect">
            <a:avLst/>
          </a:prstGeom>
          <a:solidFill>
            <a:srgbClr val="F7F9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5" name="TextBox 514"/>
          <p:cNvSpPr txBox="1"/>
          <p:nvPr/>
        </p:nvSpPr>
        <p:spPr>
          <a:xfrm>
            <a:off x="9098280" y="4800600"/>
            <a:ext cx="548640" cy="365760"/>
          </a:xfrm>
          <a:prstGeom prst="rect">
            <a:avLst/>
          </a:prstGeom>
          <a:noFill/>
        </p:spPr>
        <p:txBody>
          <a:bodyPr wrap="none" lIns="45719" rIns="45719" anchor="ctr">
            <a:spAutoFit/>
          </a:bodyPr>
          <a:lstStyle/>
          <a:p>
            <a:pPr algn="ctr"/>
            <a:r>
              <a:rPr lang="en-US" sz="1200" b="0" i="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</a:p>
        </p:txBody>
      </p:sp>
      <p:sp>
        <p:nvSpPr>
          <p:cNvPr id="516" name="Rectangle 515"/>
          <p:cNvSpPr/>
          <p:nvPr/>
        </p:nvSpPr>
        <p:spPr>
          <a:xfrm>
            <a:off x="9692640" y="4800600"/>
            <a:ext cx="548640" cy="365760"/>
          </a:xfrm>
          <a:prstGeom prst="rect">
            <a:avLst/>
          </a:prstGeom>
          <a:solidFill>
            <a:srgbClr val="F7F9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7" name="TextBox 516"/>
          <p:cNvSpPr txBox="1"/>
          <p:nvPr/>
        </p:nvSpPr>
        <p:spPr>
          <a:xfrm>
            <a:off x="9692640" y="4800600"/>
            <a:ext cx="548640" cy="365760"/>
          </a:xfrm>
          <a:prstGeom prst="rect">
            <a:avLst/>
          </a:prstGeom>
          <a:noFill/>
        </p:spPr>
        <p:txBody>
          <a:bodyPr wrap="none" lIns="45719" rIns="45719" anchor="ctr">
            <a:spAutoFit/>
          </a:bodyPr>
          <a:lstStyle/>
          <a:p>
            <a:pPr algn="ctr"/>
            <a:r>
              <a:rPr lang="en-US" sz="1200" b="0" i="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</a:p>
        </p:txBody>
      </p:sp>
      <p:sp>
        <p:nvSpPr>
          <p:cNvPr id="518" name="Rectangle 517"/>
          <p:cNvSpPr/>
          <p:nvPr/>
        </p:nvSpPr>
        <p:spPr>
          <a:xfrm>
            <a:off x="10287000" y="4800600"/>
            <a:ext cx="548640" cy="365760"/>
          </a:xfrm>
          <a:prstGeom prst="rect">
            <a:avLst/>
          </a:prstGeom>
          <a:solidFill>
            <a:srgbClr val="F7F9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9" name="TextBox 518"/>
          <p:cNvSpPr txBox="1"/>
          <p:nvPr/>
        </p:nvSpPr>
        <p:spPr>
          <a:xfrm>
            <a:off x="10287000" y="4800600"/>
            <a:ext cx="548640" cy="365760"/>
          </a:xfrm>
          <a:prstGeom prst="rect">
            <a:avLst/>
          </a:prstGeom>
          <a:noFill/>
        </p:spPr>
        <p:txBody>
          <a:bodyPr wrap="none" lIns="45719" rIns="45719" anchor="ctr">
            <a:spAutoFit/>
          </a:bodyPr>
          <a:lstStyle/>
          <a:p>
            <a:pPr algn="ctr"/>
            <a:r>
              <a:rPr lang="en-US" sz="1200" b="0" i="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</a:p>
        </p:txBody>
      </p:sp>
      <p:sp>
        <p:nvSpPr>
          <p:cNvPr id="520" name="Rectangle 519"/>
          <p:cNvSpPr/>
          <p:nvPr/>
        </p:nvSpPr>
        <p:spPr>
          <a:xfrm>
            <a:off x="10881359" y="4800600"/>
            <a:ext cx="548640" cy="365760"/>
          </a:xfrm>
          <a:prstGeom prst="rect">
            <a:avLst/>
          </a:prstGeom>
          <a:solidFill>
            <a:srgbClr val="F7F9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1" name="TextBox 520"/>
          <p:cNvSpPr txBox="1"/>
          <p:nvPr/>
        </p:nvSpPr>
        <p:spPr>
          <a:xfrm>
            <a:off x="10881359" y="4800600"/>
            <a:ext cx="548640" cy="365760"/>
          </a:xfrm>
          <a:prstGeom prst="rect">
            <a:avLst/>
          </a:prstGeom>
          <a:noFill/>
        </p:spPr>
        <p:txBody>
          <a:bodyPr wrap="none" lIns="45719" rIns="45719" anchor="ctr">
            <a:spAutoFit/>
          </a:bodyPr>
          <a:lstStyle/>
          <a:p>
            <a:pPr algn="ctr"/>
            <a:r>
              <a:rPr lang="en-US" sz="1200" b="0" i="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</a:p>
        </p:txBody>
      </p:sp>
      <p:sp>
        <p:nvSpPr>
          <p:cNvPr id="522" name="TextBox 521"/>
          <p:cNvSpPr txBox="1"/>
          <p:nvPr/>
        </p:nvSpPr>
        <p:spPr>
          <a:xfrm>
            <a:off x="9098280" y="5266944"/>
            <a:ext cx="2331720" cy="274320"/>
          </a:xfrm>
          <a:prstGeom prst="rect">
            <a:avLst/>
          </a:prstGeom>
          <a:noFill/>
        </p:spPr>
        <p:txBody>
          <a:bodyPr wrap="none" lIns="45719" rIns="45719" anchor="ctr">
            <a:spAutoFit/>
          </a:bodyPr>
          <a:lstStyle/>
          <a:p>
            <a:pPr algn="ctr"/>
            <a:r>
              <a:rPr lang="en-US" sz="1100" b="0" i="1">
                <a:solidFill>
                  <a:srgbClr val="64748B"/>
                </a:solidFill>
                <a:latin typeface="Cambria"/>
                <a:ea typeface="Cambria"/>
                <a:cs typeface="Cambria"/>
                <a:sym typeface="Cambria"/>
              </a:rPr>
              <a:t>D = 4 维</a:t>
            </a:r>
          </a:p>
        </p:txBody>
      </p:sp>
      <p:sp>
        <p:nvSpPr>
          <p:cNvPr id="523" name="TextBox 522"/>
          <p:cNvSpPr txBox="1"/>
          <p:nvPr/>
        </p:nvSpPr>
        <p:spPr>
          <a:xfrm>
            <a:off x="7589520" y="5632704"/>
            <a:ext cx="4114800" cy="502920"/>
          </a:xfrm>
          <a:prstGeom prst="rect">
            <a:avLst/>
          </a:prstGeom>
          <a:noFill/>
        </p:spPr>
        <p:txBody>
          <a:bodyPr wrap="square" lIns="45719" rIns="45719">
            <a:spAutoFit/>
          </a:bodyPr>
          <a:lstStyle/>
          <a:p>
            <a:r>
              <a:rPr lang="en-US" sz="1000" b="1">
                <a:solidFill>
                  <a:srgbClr val="FF6B6B"/>
                </a:solidFill>
                <a:latin typeface="Cambria"/>
                <a:ea typeface="Cambria"/>
                <a:cs typeface="Cambria"/>
                <a:sym typeface="Cambria"/>
              </a:rPr>
              <a:t>注：</a:t>
            </a:r>
            <a:r>
              <a:rPr lang="en-US" sz="1000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cache 中位置 7 的 K/V 物理上存在</a:t>
            </a:r>
          </a:p>
          <a:p>
            <a:r>
              <a:rPr lang="en-US" sz="1000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(属于第 4 个候选 q)，但对 pos=6 是 “未来”，</a:t>
            </a:r>
          </a:p>
          <a:p>
            <a:r>
              <a:rPr lang="en-US" sz="1000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被因果 mask 屏蔽 (−∞)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Shape 0"/>
          <p:cNvSpPr/>
          <p:nvPr/>
        </p:nvSpPr>
        <p:spPr>
          <a:xfrm>
            <a:off x="5166359" y="731519"/>
            <a:ext cx="1828801" cy="54865"/>
          </a:xfrm>
          <a:prstGeom prst="rect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5" name="Text 1"/>
          <p:cNvSpPr txBox="1"/>
          <p:nvPr/>
        </p:nvSpPr>
        <p:spPr>
          <a:xfrm>
            <a:off x="594359" y="934719"/>
            <a:ext cx="10972801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一句话总结</a:t>
            </a:r>
          </a:p>
        </p:txBody>
      </p:sp>
      <p:sp>
        <p:nvSpPr>
          <p:cNvPr id="506" name="Shape 2"/>
          <p:cNvSpPr/>
          <p:nvPr/>
        </p:nvSpPr>
        <p:spPr>
          <a:xfrm>
            <a:off x="731519" y="1828800"/>
            <a:ext cx="10698482" cy="2926081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7" name="Shape 3"/>
          <p:cNvSpPr/>
          <p:nvPr/>
        </p:nvSpPr>
        <p:spPr>
          <a:xfrm>
            <a:off x="731519" y="1828800"/>
            <a:ext cx="109729" cy="2926081"/>
          </a:xfrm>
          <a:prstGeom prst="rect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8" name="Text 4"/>
          <p:cNvSpPr txBox="1"/>
          <p:nvPr/>
        </p:nvSpPr>
        <p:spPr>
          <a:xfrm>
            <a:off x="1143000" y="2905936"/>
            <a:ext cx="9966960" cy="771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spcBef>
                <a:spcPts val="600"/>
              </a:spcBef>
              <a:defRPr sz="2200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SparseAttnSharedkv  </a:t>
            </a:r>
            <a:r>
              <a:rPr sz="1900">
                <a:solidFill>
                  <a:srgbClr val="FFFFFF"/>
                </a:solidFill>
              </a:rPr>
              <a:t>= 在长上下文推理里, 让一个 q 同时跟「近处的 ori_kv 滑窗」 + 「远处 cmp_kv 中按 sparse_indices 选出的几行」 做带 sinks 的 attention 计算。</a:t>
            </a:r>
          </a:p>
        </p:txBody>
      </p:sp>
      <p:sp>
        <p:nvSpPr>
          <p:cNvPr id="509" name="Shape 5"/>
          <p:cNvSpPr/>
          <p:nvPr/>
        </p:nvSpPr>
        <p:spPr>
          <a:xfrm>
            <a:off x="662939" y="5074920"/>
            <a:ext cx="3520442" cy="1280161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2E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0" name="Shape 6"/>
          <p:cNvSpPr/>
          <p:nvPr/>
        </p:nvSpPr>
        <p:spPr>
          <a:xfrm>
            <a:off x="662939" y="5074920"/>
            <a:ext cx="3520442" cy="411481"/>
          </a:xfrm>
          <a:prstGeom prst="rect">
            <a:avLst/>
          </a:prstGeom>
          <a:solidFill>
            <a:srgbClr val="2EC4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1" name="Text 7"/>
          <p:cNvSpPr txBox="1"/>
          <p:nvPr/>
        </p:nvSpPr>
        <p:spPr>
          <a:xfrm>
            <a:off x="708659" y="5120640"/>
            <a:ext cx="342900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三种支持场景</a:t>
            </a:r>
          </a:p>
        </p:txBody>
      </p:sp>
      <p:sp>
        <p:nvSpPr>
          <p:cNvPr id="512" name="Text 8"/>
          <p:cNvSpPr txBox="1"/>
          <p:nvPr/>
        </p:nvSpPr>
        <p:spPr>
          <a:xfrm>
            <a:off x="800100" y="5796587"/>
            <a:ext cx="324612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SWA  /  SWA + CFA  /  SWA + SCFA</a:t>
            </a:r>
          </a:p>
        </p:txBody>
      </p:sp>
      <p:sp>
        <p:nvSpPr>
          <p:cNvPr id="513" name="Shape 9"/>
          <p:cNvSpPr/>
          <p:nvPr/>
        </p:nvSpPr>
        <p:spPr>
          <a:xfrm>
            <a:off x="4320540" y="5074920"/>
            <a:ext cx="3520441" cy="1280161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F6B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4" name="Shape 10"/>
          <p:cNvSpPr/>
          <p:nvPr/>
        </p:nvSpPr>
        <p:spPr>
          <a:xfrm>
            <a:off x="4320540" y="5074920"/>
            <a:ext cx="3520441" cy="411481"/>
          </a:xfrm>
          <a:prstGeom prst="rect">
            <a:avLst/>
          </a:prstGeom>
          <a:solidFill>
            <a:srgbClr val="FF6B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5" name="Text 11"/>
          <p:cNvSpPr txBox="1"/>
          <p:nvPr/>
        </p:nvSpPr>
        <p:spPr>
          <a:xfrm>
            <a:off x="4366260" y="5120640"/>
            <a:ext cx="342900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共享 KV (MQA)</a:t>
            </a:r>
          </a:p>
        </p:txBody>
      </p:sp>
      <p:sp>
        <p:nvSpPr>
          <p:cNvPr id="516" name="Text 12"/>
          <p:cNvSpPr txBox="1"/>
          <p:nvPr/>
        </p:nvSpPr>
        <p:spPr>
          <a:xfrm>
            <a:off x="4457700" y="5796587"/>
            <a:ext cx="324612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64 q heads → 1 KV head</a:t>
            </a:r>
          </a:p>
        </p:txBody>
      </p:sp>
      <p:sp>
        <p:nvSpPr>
          <p:cNvPr id="517" name="Shape 13"/>
          <p:cNvSpPr/>
          <p:nvPr/>
        </p:nvSpPr>
        <p:spPr>
          <a:xfrm>
            <a:off x="7978140" y="5074920"/>
            <a:ext cx="3520441" cy="1280161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FA94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8" name="Shape 14"/>
          <p:cNvSpPr/>
          <p:nvPr/>
        </p:nvSpPr>
        <p:spPr>
          <a:xfrm>
            <a:off x="7978140" y="5074920"/>
            <a:ext cx="3520441" cy="411481"/>
          </a:xfrm>
          <a:prstGeom prst="rect">
            <a:avLst/>
          </a:prstGeom>
          <a:solidFill>
            <a:srgbClr val="FFA9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9" name="Text 15"/>
          <p:cNvSpPr txBox="1"/>
          <p:nvPr/>
        </p:nvSpPr>
        <p:spPr>
          <a:xfrm>
            <a:off x="8023859" y="5120640"/>
            <a:ext cx="342900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softmax 三件套</a:t>
            </a:r>
          </a:p>
        </p:txBody>
      </p:sp>
      <p:sp>
        <p:nvSpPr>
          <p:cNvPr id="520" name="Text 16"/>
          <p:cNvSpPr txBox="1"/>
          <p:nvPr/>
        </p:nvSpPr>
        <p:spPr>
          <a:xfrm>
            <a:off x="8115300" y="5796587"/>
            <a:ext cx="324612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scale  +  mask  +  sinks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